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5" r:id="rId8"/>
    <p:sldId id="267" r:id="rId9"/>
    <p:sldId id="268" r:id="rId10"/>
    <p:sldId id="269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79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32D4DF-A565-EB97-A8C7-A1E9F7B74DA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291BFA2-998F-01A7-2F49-4FB1DE5EDFC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8E51D7F-1755-5697-2E64-C82DC757F9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6485A3-0E0F-4435-9800-CE863AAE859C}" type="datetimeFigureOut">
              <a:rPr lang="en-US" smtClean="0"/>
              <a:t>6/29/2026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8EF671-FDA1-A7E4-0ACD-D3C816F670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8039BA4-02AB-38F7-117A-6AD2AC9621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E74813-2D05-4C3A-B9E6-17BA640571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09753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43877D-1361-F7A5-F225-963BACED90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CA40E4-05DF-B64E-0AE7-49A94885C5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59AF70-4A53-621B-496C-D5F5242327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6485A3-0E0F-4435-9800-CE863AAE859C}" type="datetimeFigureOut">
              <a:rPr lang="en-US" smtClean="0"/>
              <a:t>6/29/2026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9804870-160A-01B4-F95A-BB1EAFDB13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51F712-24CF-48BD-789D-CE4B7E3A2F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E74813-2D05-4C3A-B9E6-17BA640571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68842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1351D5-CED2-B344-28E6-007A27929F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BA0B97C-15FC-85B8-6016-860560A19B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0BAFAFA-8654-7985-8DE6-2E3A731DFD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6485A3-0E0F-4435-9800-CE863AAE859C}" type="datetimeFigureOut">
              <a:rPr lang="en-US" smtClean="0"/>
              <a:t>6/29/2026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B213C5-9811-1EA1-D040-0957B6EE8E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E9CD61-2E82-D9DD-02E6-F89DD47358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E74813-2D05-4C3A-B9E6-17BA640571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12484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2733EE-F218-A93E-5102-FB2D463DEB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CA641A-6699-589C-6FC9-85F9E42EBC1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D37FBD1-832D-ADE0-1D3B-D9E8C95184E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579B450-CBBB-A561-E727-E101E8E1B5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6485A3-0E0F-4435-9800-CE863AAE859C}" type="datetimeFigureOut">
              <a:rPr lang="en-US" smtClean="0"/>
              <a:t>6/29/2026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4488AED-31A5-59B2-7E61-DEC3DA79F2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09FF211-AD4E-8233-1C3B-8B4B935643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E74813-2D05-4C3A-B9E6-17BA640571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8705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56BAD3-1DAE-BF08-CA5B-9DE7E0FA63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8688A08-32B4-C07B-8F69-4B531315E4E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1DD16F4-80D1-B6EA-D609-A50E6E1C1A5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1493C98-581A-6A3A-0BC8-22E22D5BBF4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01CE171-7854-0E3C-5C7C-4F9F2DE640A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FECAFDA-6A6D-0847-7D98-33FD2C7147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6485A3-0E0F-4435-9800-CE863AAE859C}" type="datetimeFigureOut">
              <a:rPr lang="en-US" smtClean="0"/>
              <a:t>6/29/2026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0EC7304-E496-FF97-5FAC-53DA0BA7E5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8044E19-8277-5883-A768-FBC766CD07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E74813-2D05-4C3A-B9E6-17BA640571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39271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EFF43A-4CB0-0C83-E1BB-99F2E9896C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79736A5-776C-ED8C-D176-0E0397E5AA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6485A3-0E0F-4435-9800-CE863AAE859C}" type="datetimeFigureOut">
              <a:rPr lang="en-US" smtClean="0"/>
              <a:t>6/29/2026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26940BB-935F-72F9-3102-40E0BE453E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5872879-7D83-AE1B-4EC5-13585B3740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E74813-2D05-4C3A-B9E6-17BA640571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63398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573415E-2ABB-67F5-321B-06910587CE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6485A3-0E0F-4435-9800-CE863AAE859C}" type="datetimeFigureOut">
              <a:rPr lang="en-US" smtClean="0"/>
              <a:t>6/29/2026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7262054-2D8E-1213-7A5D-F2A1EEFFEB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9045F2F-898A-EFED-68C7-6C272EE5B9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E74813-2D05-4C3A-B9E6-17BA640571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25374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927F64-D09E-7DD2-D561-5AE1B43BAA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70F9CC-050F-A672-A290-17AAB6BD7C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5257C7E-6A2E-047A-665D-D0540A6D075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4C7C18A-E8DA-BFB8-4133-2789BF2771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6485A3-0E0F-4435-9800-CE863AAE859C}" type="datetimeFigureOut">
              <a:rPr lang="en-US" smtClean="0"/>
              <a:t>6/29/2026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C9FB5CA-5CCD-6A75-ECCD-FB6D641BFB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D970A36-8B58-E96F-F289-F44F4630A0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E74813-2D05-4C3A-B9E6-17BA640571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29015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9FEAA6-0EE3-1B5D-C182-81A01FBADC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0FA88D6-C18B-4186-8336-4F5178D155B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31776A6-0329-66D0-82C7-1A618652417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072270D-7C74-D2D5-4067-614A9C683A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6485A3-0E0F-4435-9800-CE863AAE859C}" type="datetimeFigureOut">
              <a:rPr lang="en-US" smtClean="0"/>
              <a:t>6/29/2026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67449B4-9CFB-F68A-C503-B56DAEFEC4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111C794-1A34-64D1-2C00-34288A4803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E74813-2D05-4C3A-B9E6-17BA640571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38049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00BF30-CD0F-7EEB-65B2-6C5F43FB18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40B7804-33DA-9471-E29C-DC3D9A9C22C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C5668C-114A-D30C-98DA-14A6320F2D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6485A3-0E0F-4435-9800-CE863AAE859C}" type="datetimeFigureOut">
              <a:rPr lang="en-US" smtClean="0"/>
              <a:t>6/29/2026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36829AC-A5E8-C900-0769-8115849AEB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E9DBFD-0FB4-D80B-3DEE-C0E731ACBF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E74813-2D05-4C3A-B9E6-17BA640571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87265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6091ED0-AFBE-CECD-7B9A-AB631D8991F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8154841-C0BF-7FCD-6808-029816EA512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35BC760-7C16-EFF1-496C-CA0EC571C5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6485A3-0E0F-4435-9800-CE863AAE859C}" type="datetimeFigureOut">
              <a:rPr lang="en-US" smtClean="0"/>
              <a:t>6/29/2026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E35F379-E7CC-BE48-2497-D940B124B4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AB799F-A43F-B338-B69F-65F02458AF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E74813-2D05-4C3A-B9E6-17BA640571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26243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35A6A99-F6F3-D44E-513F-E13F36CCE4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2125078-DD92-0291-CF63-75693266A7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2AE52E0-E5FB-77B6-DF1F-E08053BD3CA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B6485A3-0E0F-4435-9800-CE863AAE859C}" type="datetimeFigureOut">
              <a:rPr lang="en-US" smtClean="0"/>
              <a:t>6/29/2026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60A428-066C-FC0A-3DDD-7706F2CEA7E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230F9BF-403F-1DFE-D287-D72EBEC2B65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7E74813-2D05-4C3A-B9E6-17BA640571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11467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328EA2D0-ED1C-135B-CB80-F1CD0A1B107B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11827"/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EB157CF-3D97-F2C0-B74B-337F6826F8B2}"/>
              </a:ext>
            </a:extLst>
          </p:cNvPr>
          <p:cNvSpPr/>
          <p:nvPr/>
        </p:nvSpPr>
        <p:spPr>
          <a:xfrm>
            <a:off x="0" y="0"/>
            <a:ext cx="12192000" cy="127000"/>
          </a:xfrm>
          <a:prstGeom prst="rect">
            <a:avLst/>
          </a:prstGeom>
          <a:solidFill>
            <a:srgbClr val="D33333"/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69420BE-EC9C-F41C-9B02-14B234BA8315}"/>
              </a:ext>
            </a:extLst>
          </p:cNvPr>
          <p:cNvSpPr txBox="1"/>
          <p:nvPr/>
        </p:nvSpPr>
        <p:spPr>
          <a:xfrm>
            <a:off x="11303000" y="6451600"/>
            <a:ext cx="508000" cy="21544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800">
                <a:solidFill>
                  <a:srgbClr val="CBD5E1"/>
                </a:solidFill>
                <a:latin typeface="Segoe UI" panose="020B0502040204020203" pitchFamily="34" charset="0"/>
              </a:rPr>
              <a:t>1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90F2244-F43D-AB9B-3E15-7D6A30D0B610}"/>
              </a:ext>
            </a:extLst>
          </p:cNvPr>
          <p:cNvSpPr/>
          <p:nvPr/>
        </p:nvSpPr>
        <p:spPr>
          <a:xfrm>
            <a:off x="0" y="0"/>
            <a:ext cx="12192000" cy="127000"/>
          </a:xfrm>
          <a:prstGeom prst="rect">
            <a:avLst/>
          </a:prstGeom>
          <a:solidFill>
            <a:srgbClr val="D33333"/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45B118D-D2F0-7AEE-366B-52EC32ED9C79}"/>
              </a:ext>
            </a:extLst>
          </p:cNvPr>
          <p:cNvSpPr txBox="1"/>
          <p:nvPr/>
        </p:nvSpPr>
        <p:spPr>
          <a:xfrm>
            <a:off x="762000" y="2311400"/>
            <a:ext cx="9652000" cy="2923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ru-RU" sz="1900" dirty="0">
                <a:solidFill>
                  <a:srgbClr val="FFFFFF"/>
                </a:solidFill>
                <a:latin typeface="Segoe UI" panose="020B0502040204020203" pitchFamily="34" charset="0"/>
              </a:rPr>
              <a:t>за автоматизирано тестване и внедряване на многокомпонентна софтуерна система</a:t>
            </a:r>
            <a:endParaRPr lang="en-US" sz="1900" dirty="0">
              <a:solidFill>
                <a:srgbClr val="FFFFFF"/>
              </a:solidFill>
              <a:latin typeface="Segoe UI" panose="020B0502040204020203" pitchFamily="34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537A97A-CEC6-7BFC-FA4A-8296622D09FF}"/>
              </a:ext>
            </a:extLst>
          </p:cNvPr>
          <p:cNvSpPr/>
          <p:nvPr/>
        </p:nvSpPr>
        <p:spPr>
          <a:xfrm>
            <a:off x="0" y="0"/>
            <a:ext cx="12192000" cy="127000"/>
          </a:xfrm>
          <a:prstGeom prst="rect">
            <a:avLst/>
          </a:prstGeom>
          <a:solidFill>
            <a:srgbClr val="D33333"/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CFB8BD5-97BE-9B01-3461-4BC539A05608}"/>
              </a:ext>
            </a:extLst>
          </p:cNvPr>
          <p:cNvSpPr txBox="1"/>
          <p:nvPr/>
        </p:nvSpPr>
        <p:spPr>
          <a:xfrm>
            <a:off x="736600" y="1117600"/>
            <a:ext cx="10414000" cy="1046440"/>
          </a:xfrm>
          <a:prstGeom prst="rect">
            <a:avLst/>
          </a:prstGeom>
          <a:noFill/>
          <a:ln w="1397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3970">
                <a:solidFill>
                  <a:schemeClr val="tx1"/>
                </a:solidFill>
              </a14:hiddenLine>
            </a:ext>
          </a:extLst>
        </p:spPr>
        <p:txBody>
          <a:bodyPr vert="horz" wrap="square" lIns="0" tIns="0" rIns="0" bIns="0" rtlCol="0">
            <a:spAutoFit/>
          </a:bodyPr>
          <a:lstStyle/>
          <a:p>
            <a:r>
              <a:rPr lang="ru-RU" sz="3400" b="1">
                <a:solidFill>
                  <a:srgbClr val="FFFFFF"/>
                </a:solidFill>
                <a:latin typeface="Segoe UI" panose="020B0502040204020203" pitchFamily="34" charset="0"/>
              </a:rPr>
              <a:t>Проектиране и разработка на CI/CD инфраструктура</a:t>
            </a:r>
            <a:endParaRPr lang="en-US" sz="3400" b="1">
              <a:solidFill>
                <a:srgbClr val="FFFFFF"/>
              </a:solidFill>
              <a:latin typeface="Segoe UI" panose="020B0502040204020203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560CACC-56E1-2EAF-05A5-E9CE753713A5}"/>
              </a:ext>
            </a:extLst>
          </p:cNvPr>
          <p:cNvSpPr txBox="1"/>
          <p:nvPr/>
        </p:nvSpPr>
        <p:spPr>
          <a:xfrm>
            <a:off x="558800" y="6477000"/>
            <a:ext cx="9652000" cy="21544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ru-RU" sz="800">
                <a:solidFill>
                  <a:srgbClr val="CBD5E1"/>
                </a:solidFill>
                <a:latin typeface="Segoe UI" panose="020B0502040204020203" pitchFamily="34" charset="0"/>
              </a:rPr>
              <a:t>Дипломна работа | CI/CD инфраструктура</a:t>
            </a:r>
            <a:endParaRPr lang="en-US" sz="800">
              <a:solidFill>
                <a:srgbClr val="CBD5E1"/>
              </a:solidFill>
              <a:latin typeface="Segoe UI" panose="020B0502040204020203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EC57D27-DF08-619D-9376-325F6CBC241E}"/>
              </a:ext>
            </a:extLst>
          </p:cNvPr>
          <p:cNvSpPr txBox="1"/>
          <p:nvPr/>
        </p:nvSpPr>
        <p:spPr>
          <a:xfrm>
            <a:off x="762000" y="5638800"/>
            <a:ext cx="6096000" cy="21544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ru-RU" sz="1400" b="1">
                <a:solidFill>
                  <a:srgbClr val="CBD5E1"/>
                </a:solidFill>
                <a:latin typeface="Segoe UI" panose="020B0502040204020203" pitchFamily="34" charset="0"/>
              </a:rPr>
              <a:t>Пламен Руменов Пандев | КСИ | 2026</a:t>
            </a:r>
            <a:endParaRPr lang="en-US" sz="1400" b="1">
              <a:solidFill>
                <a:srgbClr val="CBD5E1"/>
              </a:solidFill>
              <a:latin typeface="Segoe UI" panose="020B0502040204020203" pitchFamily="34" charset="0"/>
            </a:endParaRP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91CE3FA7-DB0C-E405-F821-8C88E48143EE}"/>
              </a:ext>
            </a:extLst>
          </p:cNvPr>
          <p:cNvSpPr/>
          <p:nvPr/>
        </p:nvSpPr>
        <p:spPr>
          <a:xfrm>
            <a:off x="8064500" y="4318000"/>
            <a:ext cx="3302000" cy="1371600"/>
          </a:xfrm>
          <a:prstGeom prst="roundRect">
            <a:avLst/>
          </a:prstGeom>
          <a:solidFill>
            <a:srgbClr val="1F2937"/>
          </a:solidFill>
          <a:ln w="15875">
            <a:solidFill>
              <a:srgbClr val="4B556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F662502-5E8B-B2DF-5725-B794C20195E7}"/>
              </a:ext>
            </a:extLst>
          </p:cNvPr>
          <p:cNvSpPr/>
          <p:nvPr/>
        </p:nvSpPr>
        <p:spPr>
          <a:xfrm>
            <a:off x="8064500" y="4318000"/>
            <a:ext cx="3302000" cy="88900"/>
          </a:xfrm>
          <a:prstGeom prst="rect">
            <a:avLst/>
          </a:prstGeom>
          <a:solidFill>
            <a:srgbClr val="D3333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367437C-EC78-EB62-ACD9-481F72BE5F86}"/>
              </a:ext>
            </a:extLst>
          </p:cNvPr>
          <p:cNvSpPr txBox="1"/>
          <p:nvPr/>
        </p:nvSpPr>
        <p:spPr>
          <a:xfrm>
            <a:off x="8318500" y="4572000"/>
            <a:ext cx="2794000" cy="3231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ru-RU" sz="1500">
                <a:solidFill>
                  <a:srgbClr val="FFFFFF"/>
                </a:solidFill>
                <a:latin typeface="Segoe UI Semibold" panose="020B0702040204020203" pitchFamily="34" charset="0"/>
              </a:rPr>
              <a:t>Фокус</a:t>
            </a:r>
            <a:endParaRPr lang="en-US" sz="1500">
              <a:solidFill>
                <a:srgbClr val="FFFFFF"/>
              </a:solidFill>
              <a:latin typeface="Segoe UI Semibold" panose="020B0702040204020203" pitchFamily="34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9691F63-3560-2D00-0CC8-9189789124F3}"/>
              </a:ext>
            </a:extLst>
          </p:cNvPr>
          <p:cNvSpPr txBox="1"/>
          <p:nvPr/>
        </p:nvSpPr>
        <p:spPr>
          <a:xfrm>
            <a:off x="8318500" y="4927600"/>
            <a:ext cx="2794000" cy="4001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000">
                <a:solidFill>
                  <a:srgbClr val="CBD5E1"/>
                </a:solidFill>
                <a:latin typeface="Segoe UI" panose="020B0502040204020203" pitchFamily="34" charset="0"/>
              </a:rPr>
              <a:t>Build, test, quality анализ, артефакти и deployment.</a:t>
            </a:r>
          </a:p>
        </p:txBody>
      </p:sp>
    </p:spTree>
    <p:extLst>
      <p:ext uri="{BB962C8B-B14F-4D97-AF65-F5344CB8AC3E}">
        <p14:creationId xmlns:p14="http://schemas.microsoft.com/office/powerpoint/2010/main" val="261952642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DD431284-4C47-684E-BC5B-218F0F62207B}"/>
              </a:ext>
            </a:extLst>
          </p:cNvPr>
          <p:cNvSpPr/>
          <p:nvPr/>
        </p:nvSpPr>
        <p:spPr>
          <a:xfrm>
            <a:off x="0" y="0"/>
            <a:ext cx="12192000" cy="1117600"/>
          </a:xfrm>
          <a:prstGeom prst="rect">
            <a:avLst/>
          </a:prstGeom>
          <a:solidFill>
            <a:srgbClr val="1F2937"/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9875ACC-4EC4-F95C-F898-6ECDC55A6A34}"/>
              </a:ext>
            </a:extLst>
          </p:cNvPr>
          <p:cNvSpPr/>
          <p:nvPr/>
        </p:nvSpPr>
        <p:spPr>
          <a:xfrm>
            <a:off x="0" y="0"/>
            <a:ext cx="12192000" cy="127000"/>
          </a:xfrm>
          <a:prstGeom prst="rect">
            <a:avLst/>
          </a:prstGeom>
          <a:solidFill>
            <a:srgbClr val="D33333"/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13CB981-D92C-CDE4-EC07-4A84DC96B595}"/>
              </a:ext>
            </a:extLst>
          </p:cNvPr>
          <p:cNvSpPr txBox="1"/>
          <p:nvPr/>
        </p:nvSpPr>
        <p:spPr>
          <a:xfrm>
            <a:off x="11303000" y="6451600"/>
            <a:ext cx="508000" cy="215444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CBD5E1"/>
                </a:solidFill>
              </a14:hiddenLine>
            </a:ext>
          </a:extLst>
        </p:spPr>
        <p:txBody>
          <a:bodyPr vert="horz" rtlCol="0">
            <a:spAutoFit/>
          </a:bodyPr>
          <a:lstStyle/>
          <a:p>
            <a:pPr algn="ctr"/>
            <a:r>
              <a:rPr lang="en-US" sz="800">
                <a:solidFill>
                  <a:srgbClr val="64748B"/>
                </a:solidFill>
                <a:latin typeface="Segoe UI" panose="020B0502040204020203" pitchFamily="34" charset="0"/>
              </a:rPr>
              <a:t>2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F50FF20-046B-37D0-8AE4-2780F07144D5}"/>
              </a:ext>
            </a:extLst>
          </p:cNvPr>
          <p:cNvSpPr txBox="1"/>
          <p:nvPr/>
        </p:nvSpPr>
        <p:spPr>
          <a:xfrm>
            <a:off x="914400" y="1854200"/>
            <a:ext cx="6350000" cy="2349361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>
              <a:spcAft>
                <a:spcPts val="800"/>
              </a:spcAft>
            </a:pPr>
            <a:r>
              <a:rPr lang="ru-RU">
                <a:solidFill>
                  <a:srgbClr val="1F2937"/>
                </a:solidFill>
                <a:latin typeface="Segoe UI" panose="020B0502040204020203" pitchFamily="34" charset="0"/>
              </a:rPr>
              <a:t>• Автоматизиране на </a:t>
            </a:r>
            <a:r>
              <a:rPr lang="en-US">
                <a:solidFill>
                  <a:srgbClr val="1F2937"/>
                </a:solidFill>
                <a:latin typeface="Segoe UI" panose="020B0502040204020203" pitchFamily="34" charset="0"/>
              </a:rPr>
              <a:t>build, test, </a:t>
            </a:r>
            <a:r>
              <a:rPr lang="ru-RU">
                <a:solidFill>
                  <a:srgbClr val="1F2937"/>
                </a:solidFill>
                <a:latin typeface="Segoe UI" panose="020B0502040204020203" pitchFamily="34" charset="0"/>
              </a:rPr>
              <a:t>анализ и </a:t>
            </a:r>
            <a:r>
              <a:rPr lang="en-US">
                <a:solidFill>
                  <a:srgbClr val="1F2937"/>
                </a:solidFill>
                <a:latin typeface="Segoe UI" panose="020B0502040204020203" pitchFamily="34" charset="0"/>
              </a:rPr>
              <a:t>deployment </a:t>
            </a:r>
            <a:r>
              <a:rPr lang="ru-RU">
                <a:solidFill>
                  <a:srgbClr val="1F2937"/>
                </a:solidFill>
                <a:latin typeface="Segoe UI" panose="020B0502040204020203" pitchFamily="34" charset="0"/>
              </a:rPr>
              <a:t>процеса</a:t>
            </a:r>
          </a:p>
          <a:p>
            <a:pPr>
              <a:spcAft>
                <a:spcPts val="800"/>
              </a:spcAft>
            </a:pPr>
            <a:r>
              <a:rPr lang="ru-RU">
                <a:solidFill>
                  <a:srgbClr val="1F2937"/>
                </a:solidFill>
                <a:latin typeface="Segoe UI" panose="020B0502040204020203" pitchFamily="34" charset="0"/>
              </a:rPr>
              <a:t>• Разделяне на среди: </a:t>
            </a:r>
            <a:r>
              <a:rPr lang="en-US">
                <a:solidFill>
                  <a:srgbClr val="1F2937"/>
                </a:solidFill>
                <a:latin typeface="Segoe UI" panose="020B0502040204020203" pitchFamily="34" charset="0"/>
              </a:rPr>
              <a:t>dev, test </a:t>
            </a:r>
            <a:r>
              <a:rPr lang="ru-RU">
                <a:solidFill>
                  <a:srgbClr val="1F2937"/>
                </a:solidFill>
                <a:latin typeface="Segoe UI" panose="020B0502040204020203" pitchFamily="34" charset="0"/>
              </a:rPr>
              <a:t>и </a:t>
            </a:r>
            <a:r>
              <a:rPr lang="en-US">
                <a:solidFill>
                  <a:srgbClr val="1F2937"/>
                </a:solidFill>
                <a:latin typeface="Segoe UI" panose="020B0502040204020203" pitchFamily="34" charset="0"/>
              </a:rPr>
              <a:t>prod</a:t>
            </a:r>
          </a:p>
          <a:p>
            <a:pPr>
              <a:spcAft>
                <a:spcPts val="800"/>
              </a:spcAft>
            </a:pPr>
            <a:r>
              <a:rPr lang="en-US">
                <a:solidFill>
                  <a:srgbClr val="1F2937"/>
                </a:solidFill>
                <a:latin typeface="Segoe UI" panose="020B0502040204020203" pitchFamily="34" charset="0"/>
              </a:rPr>
              <a:t>• </a:t>
            </a:r>
            <a:r>
              <a:rPr lang="ru-RU">
                <a:solidFill>
                  <a:srgbClr val="1F2937"/>
                </a:solidFill>
                <a:latin typeface="Segoe UI" panose="020B0502040204020203" pitchFamily="34" charset="0"/>
              </a:rPr>
              <a:t>Контрол на качеството чрез </a:t>
            </a:r>
            <a:r>
              <a:rPr lang="en-US">
                <a:solidFill>
                  <a:srgbClr val="1F2937"/>
                </a:solidFill>
                <a:latin typeface="Segoe UI" panose="020B0502040204020203" pitchFamily="34" charset="0"/>
              </a:rPr>
              <a:t>unit tests </a:t>
            </a:r>
            <a:r>
              <a:rPr lang="ru-RU">
                <a:solidFill>
                  <a:srgbClr val="1F2937"/>
                </a:solidFill>
                <a:latin typeface="Segoe UI" panose="020B0502040204020203" pitchFamily="34" charset="0"/>
              </a:rPr>
              <a:t>и </a:t>
            </a:r>
            <a:r>
              <a:rPr lang="en-US">
                <a:solidFill>
                  <a:srgbClr val="1F2937"/>
                </a:solidFill>
                <a:latin typeface="Segoe UI" panose="020B0502040204020203" pitchFamily="34" charset="0"/>
              </a:rPr>
              <a:t>SonarQube Quality Gate</a:t>
            </a:r>
          </a:p>
          <a:p>
            <a:pPr>
              <a:spcAft>
                <a:spcPts val="800"/>
              </a:spcAft>
            </a:pPr>
            <a:r>
              <a:rPr lang="en-US">
                <a:solidFill>
                  <a:srgbClr val="1F2937"/>
                </a:solidFill>
                <a:latin typeface="Segoe UI" panose="020B0502040204020203" pitchFamily="34" charset="0"/>
              </a:rPr>
              <a:t>• </a:t>
            </a:r>
            <a:r>
              <a:rPr lang="ru-RU">
                <a:solidFill>
                  <a:srgbClr val="1F2937"/>
                </a:solidFill>
                <a:latin typeface="Segoe UI" panose="020B0502040204020203" pitchFamily="34" charset="0"/>
              </a:rPr>
              <a:t>Съхранение на </a:t>
            </a:r>
            <a:r>
              <a:rPr lang="en-US">
                <a:solidFill>
                  <a:srgbClr val="1F2937"/>
                </a:solidFill>
                <a:latin typeface="Segoe UI" panose="020B0502040204020203" pitchFamily="34" charset="0"/>
              </a:rPr>
              <a:t>build </a:t>
            </a:r>
            <a:r>
              <a:rPr lang="ru-RU">
                <a:solidFill>
                  <a:srgbClr val="1F2937"/>
                </a:solidFill>
                <a:latin typeface="Segoe UI" panose="020B0502040204020203" pitchFamily="34" charset="0"/>
              </a:rPr>
              <a:t>артефакти в </a:t>
            </a:r>
            <a:r>
              <a:rPr lang="en-US">
                <a:solidFill>
                  <a:srgbClr val="1F2937"/>
                </a:solidFill>
                <a:latin typeface="Segoe UI" panose="020B0502040204020203" pitchFamily="34" charset="0"/>
              </a:rPr>
              <a:t>Nexus Repository</a:t>
            </a:r>
          </a:p>
          <a:p>
            <a:pPr>
              <a:spcAft>
                <a:spcPts val="800"/>
              </a:spcAft>
            </a:pPr>
            <a:r>
              <a:rPr lang="en-US">
                <a:solidFill>
                  <a:srgbClr val="1F2937"/>
                </a:solidFill>
                <a:latin typeface="Segoe UI" panose="020B0502040204020203" pitchFamily="34" charset="0"/>
              </a:rPr>
              <a:t>• </a:t>
            </a:r>
            <a:r>
              <a:rPr lang="ru-RU">
                <a:solidFill>
                  <a:srgbClr val="1F2937"/>
                </a:solidFill>
                <a:latin typeface="Segoe UI" panose="020B0502040204020203" pitchFamily="34" charset="0"/>
              </a:rPr>
              <a:t>Контейнерно внедряване чрез </a:t>
            </a:r>
            <a:r>
              <a:rPr lang="en-US">
                <a:solidFill>
                  <a:srgbClr val="1F2937"/>
                </a:solidFill>
                <a:latin typeface="Segoe UI" panose="020B0502040204020203" pitchFamily="34" charset="0"/>
              </a:rPr>
              <a:t>Docker </a:t>
            </a:r>
            <a:r>
              <a:rPr lang="ru-RU">
                <a:solidFill>
                  <a:srgbClr val="1F2937"/>
                </a:solidFill>
                <a:latin typeface="Segoe UI" panose="020B0502040204020203" pitchFamily="34" charset="0"/>
              </a:rPr>
              <a:t>и </a:t>
            </a:r>
            <a:r>
              <a:rPr lang="en-US">
                <a:solidFill>
                  <a:srgbClr val="1F2937"/>
                </a:solidFill>
                <a:latin typeface="Segoe UI" panose="020B0502040204020203" pitchFamily="34" charset="0"/>
              </a:rPr>
              <a:t>Docker Compose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14850EB-A0F8-364E-7A4F-0C8162CD6E5B}"/>
              </a:ext>
            </a:extLst>
          </p:cNvPr>
          <p:cNvSpPr/>
          <p:nvPr/>
        </p:nvSpPr>
        <p:spPr>
          <a:xfrm>
            <a:off x="0" y="0"/>
            <a:ext cx="12192000" cy="101600"/>
          </a:xfrm>
          <a:prstGeom prst="rect">
            <a:avLst/>
          </a:prstGeom>
          <a:solidFill>
            <a:srgbClr val="D33333"/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F817B261-3813-C5E8-108C-86409661DBE8}"/>
              </a:ext>
            </a:extLst>
          </p:cNvPr>
          <p:cNvSpPr/>
          <p:nvPr/>
        </p:nvSpPr>
        <p:spPr>
          <a:xfrm>
            <a:off x="9906000" y="279400"/>
            <a:ext cx="1600200" cy="381000"/>
          </a:xfrm>
          <a:prstGeom prst="roundRect">
            <a:avLst/>
          </a:prstGeom>
          <a:solidFill>
            <a:srgbClr val="374151"/>
          </a:solidFill>
          <a:ln>
            <a:solidFill>
              <a:srgbClr val="4B556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E225F99-DF1A-E291-3053-9183420A8E1B}"/>
              </a:ext>
            </a:extLst>
          </p:cNvPr>
          <p:cNvSpPr txBox="1"/>
          <p:nvPr/>
        </p:nvSpPr>
        <p:spPr>
          <a:xfrm>
            <a:off x="558800" y="6477000"/>
            <a:ext cx="9652000" cy="215444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CBD5E1"/>
                </a:solidFill>
              </a14:hiddenLine>
            </a:ext>
          </a:extLst>
        </p:spPr>
        <p:txBody>
          <a:bodyPr vert="horz" rtlCol="0">
            <a:spAutoFit/>
          </a:bodyPr>
          <a:lstStyle/>
          <a:p>
            <a:r>
              <a:rPr lang="ru-RU" sz="800">
                <a:solidFill>
                  <a:srgbClr val="64748B"/>
                </a:solidFill>
                <a:latin typeface="Segoe UI" panose="020B0502040204020203" pitchFamily="34" charset="0"/>
              </a:rPr>
              <a:t>Цел и обхват</a:t>
            </a:r>
            <a:endParaRPr lang="en-US" sz="800">
              <a:solidFill>
                <a:srgbClr val="64748B"/>
              </a:solidFill>
              <a:latin typeface="Segoe UI" panose="020B0502040204020203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F83E207-A9C2-3780-0727-7A491EA76366}"/>
              </a:ext>
            </a:extLst>
          </p:cNvPr>
          <p:cNvSpPr txBox="1"/>
          <p:nvPr/>
        </p:nvSpPr>
        <p:spPr>
          <a:xfrm>
            <a:off x="10109200" y="368300"/>
            <a:ext cx="1193800" cy="22313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850" b="1">
                <a:solidFill>
                  <a:srgbClr val="FFFFFF"/>
                </a:solidFill>
                <a:latin typeface="Segoe UI" panose="020B0502040204020203" pitchFamily="34" charset="0"/>
              </a:rPr>
              <a:t>Jenkins CI/CD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370B364-2EF3-BCF5-1993-9BE3F1FB8984}"/>
              </a:ext>
            </a:extLst>
          </p:cNvPr>
          <p:cNvSpPr txBox="1"/>
          <p:nvPr/>
        </p:nvSpPr>
        <p:spPr>
          <a:xfrm>
            <a:off x="558800" y="457200"/>
            <a:ext cx="10414000" cy="44627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ru-RU" sz="2900" b="1">
                <a:solidFill>
                  <a:srgbClr val="FFFFFF"/>
                </a:solidFill>
                <a:latin typeface="Segoe UI" panose="020B0502040204020203" pitchFamily="34" charset="0"/>
              </a:rPr>
              <a:t>Цел на проекта</a:t>
            </a:r>
            <a:endParaRPr lang="en-US" sz="2900" b="1">
              <a:solidFill>
                <a:srgbClr val="FFFFFF"/>
              </a:solidFill>
              <a:latin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1269492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B6D6440A-6EF0-5E2C-FF3D-41AF691655DF}"/>
              </a:ext>
            </a:extLst>
          </p:cNvPr>
          <p:cNvSpPr/>
          <p:nvPr/>
        </p:nvSpPr>
        <p:spPr>
          <a:xfrm>
            <a:off x="0" y="0"/>
            <a:ext cx="12192000" cy="1117600"/>
          </a:xfrm>
          <a:prstGeom prst="rect">
            <a:avLst/>
          </a:prstGeom>
          <a:solidFill>
            <a:srgbClr val="1F2937"/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5AD3375-3618-C397-024E-CFDD5C4E0793}"/>
              </a:ext>
            </a:extLst>
          </p:cNvPr>
          <p:cNvSpPr/>
          <p:nvPr/>
        </p:nvSpPr>
        <p:spPr>
          <a:xfrm>
            <a:off x="0" y="0"/>
            <a:ext cx="12192000" cy="127000"/>
          </a:xfrm>
          <a:prstGeom prst="rect">
            <a:avLst/>
          </a:prstGeom>
          <a:solidFill>
            <a:srgbClr val="D33333"/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09D95C7-A211-31F6-1C99-CFA060400259}"/>
              </a:ext>
            </a:extLst>
          </p:cNvPr>
          <p:cNvSpPr txBox="1"/>
          <p:nvPr/>
        </p:nvSpPr>
        <p:spPr>
          <a:xfrm>
            <a:off x="11303000" y="6451600"/>
            <a:ext cx="508000" cy="215444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CBD5E1"/>
                </a:solidFill>
              </a14:hiddenLine>
            </a:ext>
          </a:extLst>
        </p:spPr>
        <p:txBody>
          <a:bodyPr vert="horz" rtlCol="0">
            <a:spAutoFit/>
          </a:bodyPr>
          <a:lstStyle/>
          <a:p>
            <a:pPr algn="ctr"/>
            <a:r>
              <a:rPr lang="en-US" sz="800">
                <a:solidFill>
                  <a:srgbClr val="64748B"/>
                </a:solidFill>
                <a:latin typeface="Segoe UI" panose="020B0502040204020203" pitchFamily="34" charset="0"/>
              </a:rPr>
              <a:t>3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736B6E1-664B-191E-0457-8F274E86AFE4}"/>
              </a:ext>
            </a:extLst>
          </p:cNvPr>
          <p:cNvSpPr txBox="1"/>
          <p:nvPr/>
        </p:nvSpPr>
        <p:spPr>
          <a:xfrm>
            <a:off x="584200" y="1117600"/>
            <a:ext cx="9906000" cy="184666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CBD5E1"/>
                </a:solidFill>
              </a14:hiddenLine>
            </a:ext>
          </a:extLst>
        </p:spPr>
        <p:txBody>
          <a:bodyPr vert="horz" wrap="square" lIns="0" tIns="0" rIns="0" bIns="0" rtlCol="0">
            <a:spAutoFit/>
          </a:bodyPr>
          <a:lstStyle/>
          <a:p>
            <a:r>
              <a:rPr lang="ru-RU" sz="1200" b="1">
                <a:solidFill>
                  <a:srgbClr val="64748B"/>
                </a:solidFill>
                <a:latin typeface="Segoe UI" panose="020B0502040204020203" pitchFamily="34" charset="0"/>
              </a:rPr>
              <a:t>CI/CD намалява риска от ръчни грешки и прави процеса измерим.</a:t>
            </a:r>
            <a:endParaRPr lang="en-US" sz="1200" b="1">
              <a:solidFill>
                <a:srgbClr val="64748B"/>
              </a:solidFill>
              <a:latin typeface="Segoe UI" panose="020B0502040204020203" pitchFamily="34" charset="0"/>
            </a:endParaRP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339D4330-2E14-D03C-8D6F-65B2DF03CF63}"/>
              </a:ext>
            </a:extLst>
          </p:cNvPr>
          <p:cNvSpPr/>
          <p:nvPr/>
        </p:nvSpPr>
        <p:spPr>
          <a:xfrm>
            <a:off x="914400" y="2006600"/>
            <a:ext cx="3175000" cy="2667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C741B97-BA2C-8B75-5C0B-6EED5F31600C}"/>
              </a:ext>
            </a:extLst>
          </p:cNvPr>
          <p:cNvSpPr/>
          <p:nvPr/>
        </p:nvSpPr>
        <p:spPr>
          <a:xfrm>
            <a:off x="914400" y="2006600"/>
            <a:ext cx="3175000" cy="76200"/>
          </a:xfrm>
          <a:prstGeom prst="rect">
            <a:avLst/>
          </a:prstGeom>
          <a:solidFill>
            <a:srgbClr val="D33333"/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4ACCB2F-3BB1-6FF9-2C0E-ABCEBF3086D6}"/>
              </a:ext>
            </a:extLst>
          </p:cNvPr>
          <p:cNvSpPr txBox="1"/>
          <p:nvPr/>
        </p:nvSpPr>
        <p:spPr>
          <a:xfrm>
            <a:off x="1092200" y="2565400"/>
            <a:ext cx="2819400" cy="615553"/>
          </a:xfrm>
          <a:prstGeom prst="rect">
            <a:avLst/>
          </a:prstGeom>
          <a:noFill/>
          <a:ln w="1397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3970">
                <a:solidFill>
                  <a:schemeClr val="tx1"/>
                </a:solidFill>
              </a14:hiddenLine>
            </a:ext>
          </a:extLst>
        </p:spPr>
        <p:txBody>
          <a:bodyPr vert="horz" wrap="square" lIns="0" tIns="0" rIns="0" bIns="0" rtlCol="0">
            <a:spAutoFit/>
          </a:bodyPr>
          <a:lstStyle/>
          <a:p>
            <a:r>
              <a:rPr lang="ru-RU" sz="1000">
                <a:solidFill>
                  <a:srgbClr val="1F2937"/>
                </a:solidFill>
                <a:latin typeface="Segoe UI" panose="020B0502040204020203" pitchFamily="34" charset="0"/>
              </a:rPr>
              <a:t>Ръчен build</a:t>
            </a:r>
          </a:p>
          <a:p>
            <a:r>
              <a:rPr lang="ru-RU" sz="1000">
                <a:solidFill>
                  <a:srgbClr val="1F2937"/>
                </a:solidFill>
                <a:latin typeface="Segoe UI" panose="020B0502040204020203" pitchFamily="34" charset="0"/>
              </a:rPr>
              <a:t>Ръчно копиране</a:t>
            </a:r>
          </a:p>
          <a:p>
            <a:r>
              <a:rPr lang="ru-RU" sz="1000">
                <a:solidFill>
                  <a:srgbClr val="1F2937"/>
                </a:solidFill>
                <a:latin typeface="Segoe UI" panose="020B0502040204020203" pitchFamily="34" charset="0"/>
              </a:rPr>
              <a:t>Липса на единна проверка</a:t>
            </a:r>
          </a:p>
          <a:p>
            <a:r>
              <a:rPr lang="ru-RU" sz="1000">
                <a:solidFill>
                  <a:srgbClr val="1F2937"/>
                </a:solidFill>
                <a:latin typeface="Segoe UI" panose="020B0502040204020203" pitchFamily="34" charset="0"/>
              </a:rPr>
              <a:t>Трудно проследяване на версии</a:t>
            </a:r>
            <a:endParaRPr lang="en-US" sz="1000">
              <a:solidFill>
                <a:srgbClr val="1F2937"/>
              </a:solidFill>
              <a:latin typeface="Segoe UI" panose="020B0502040204020203" pitchFamily="34" charset="0"/>
            </a:endParaRP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250A0E9F-13D1-6A6F-EBB3-7E30561C4DD4}"/>
              </a:ext>
            </a:extLst>
          </p:cNvPr>
          <p:cNvSpPr/>
          <p:nvPr/>
        </p:nvSpPr>
        <p:spPr>
          <a:xfrm>
            <a:off x="4495800" y="2006600"/>
            <a:ext cx="3175000" cy="2667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8C3B28D-2994-2CD3-943B-3A1FC78F8E8C}"/>
              </a:ext>
            </a:extLst>
          </p:cNvPr>
          <p:cNvSpPr/>
          <p:nvPr/>
        </p:nvSpPr>
        <p:spPr>
          <a:xfrm>
            <a:off x="4495800" y="2006600"/>
            <a:ext cx="3175000" cy="76200"/>
          </a:xfrm>
          <a:prstGeom prst="rect">
            <a:avLst/>
          </a:prstGeom>
          <a:solidFill>
            <a:srgbClr val="D33333"/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339F942-B1DE-4A19-99FE-EA6B903D4223}"/>
              </a:ext>
            </a:extLst>
          </p:cNvPr>
          <p:cNvSpPr txBox="1"/>
          <p:nvPr/>
        </p:nvSpPr>
        <p:spPr>
          <a:xfrm>
            <a:off x="4673600" y="2565400"/>
            <a:ext cx="2819400" cy="769441"/>
          </a:xfrm>
          <a:prstGeom prst="rect">
            <a:avLst/>
          </a:prstGeom>
          <a:noFill/>
          <a:ln w="1397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3970">
                <a:solidFill>
                  <a:schemeClr val="tx1"/>
                </a:solidFill>
              </a14:hiddenLine>
            </a:ext>
          </a:extLst>
        </p:spPr>
        <p:txBody>
          <a:bodyPr vert="horz" wrap="square" lIns="0" tIns="0" rIns="0" bIns="0" rtlCol="0">
            <a:spAutoFit/>
          </a:bodyPr>
          <a:lstStyle/>
          <a:p>
            <a:r>
              <a:rPr lang="en-US" sz="1000">
                <a:solidFill>
                  <a:srgbClr val="1F2937"/>
                </a:solidFill>
                <a:latin typeface="Segoe UI" panose="020B0502040204020203" pitchFamily="34" charset="0"/>
              </a:rPr>
              <a:t>Jenkins pipeline</a:t>
            </a:r>
          </a:p>
          <a:p>
            <a:r>
              <a:rPr lang="en-US" sz="1000">
                <a:solidFill>
                  <a:srgbClr val="1F2937"/>
                </a:solidFill>
                <a:latin typeface="Segoe UI" panose="020B0502040204020203" pitchFamily="34" charset="0"/>
              </a:rPr>
              <a:t>Unit tests</a:t>
            </a:r>
          </a:p>
          <a:p>
            <a:r>
              <a:rPr lang="en-US" sz="1000">
                <a:solidFill>
                  <a:srgbClr val="1F2937"/>
                </a:solidFill>
                <a:latin typeface="Segoe UI" panose="020B0502040204020203" pitchFamily="34" charset="0"/>
              </a:rPr>
              <a:t>SonarQube Quality Gate</a:t>
            </a:r>
          </a:p>
          <a:p>
            <a:r>
              <a:rPr lang="en-US" sz="1000">
                <a:solidFill>
                  <a:srgbClr val="1F2937"/>
                </a:solidFill>
                <a:latin typeface="Segoe UI" panose="020B0502040204020203" pitchFamily="34" charset="0"/>
              </a:rPr>
              <a:t>Nexus + Docker Hub</a:t>
            </a:r>
          </a:p>
          <a:p>
            <a:r>
              <a:rPr lang="en-US" sz="1000">
                <a:solidFill>
                  <a:srgbClr val="1F2937"/>
                </a:solidFill>
                <a:latin typeface="Segoe UI" panose="020B0502040204020203" pitchFamily="34" charset="0"/>
              </a:rPr>
              <a:t>Docker Compose deployment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BD7846BD-AD67-12B7-F85B-CFE9D61E5B11}"/>
              </a:ext>
            </a:extLst>
          </p:cNvPr>
          <p:cNvSpPr/>
          <p:nvPr/>
        </p:nvSpPr>
        <p:spPr>
          <a:xfrm>
            <a:off x="8077200" y="2006600"/>
            <a:ext cx="3175000" cy="2667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B35899A2-BFA7-8D8D-FD11-E23EC622A4A3}"/>
              </a:ext>
            </a:extLst>
          </p:cNvPr>
          <p:cNvSpPr/>
          <p:nvPr/>
        </p:nvSpPr>
        <p:spPr>
          <a:xfrm>
            <a:off x="8077200" y="2006600"/>
            <a:ext cx="3175000" cy="76200"/>
          </a:xfrm>
          <a:prstGeom prst="rect">
            <a:avLst/>
          </a:prstGeom>
          <a:solidFill>
            <a:srgbClr val="D33333"/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754970E-4DF4-88E9-E6AA-32D7EA750A5E}"/>
              </a:ext>
            </a:extLst>
          </p:cNvPr>
          <p:cNvSpPr txBox="1"/>
          <p:nvPr/>
        </p:nvSpPr>
        <p:spPr>
          <a:xfrm>
            <a:off x="8255000" y="2565400"/>
            <a:ext cx="2819400" cy="615553"/>
          </a:xfrm>
          <a:prstGeom prst="rect">
            <a:avLst/>
          </a:prstGeom>
          <a:noFill/>
          <a:ln w="1397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3970">
                <a:solidFill>
                  <a:schemeClr val="tx1"/>
                </a:solidFill>
              </a14:hiddenLine>
            </a:ext>
          </a:extLst>
        </p:spPr>
        <p:txBody>
          <a:bodyPr vert="horz" wrap="square" lIns="0" tIns="0" rIns="0" bIns="0" rtlCol="0">
            <a:spAutoFit/>
          </a:bodyPr>
          <a:lstStyle/>
          <a:p>
            <a:r>
              <a:rPr lang="ru-RU" sz="1000">
                <a:solidFill>
                  <a:srgbClr val="1F2937"/>
                </a:solidFill>
                <a:latin typeface="Segoe UI" panose="020B0502040204020203" pitchFamily="34" charset="0"/>
              </a:rPr>
              <a:t>Всяка промяна минава през дефинирана последователност от етапи. При проблем процесът спира в правилния stage и не допуска неконтролирано внедряване.</a:t>
            </a:r>
            <a:endParaRPr lang="en-US" sz="1000">
              <a:solidFill>
                <a:srgbClr val="1F2937"/>
              </a:solidFill>
              <a:latin typeface="Segoe UI" panose="020B0502040204020203" pitchFamily="34" charset="0"/>
            </a:endParaRP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AEC69C2E-90F7-9C98-5228-6EB13D8CA890}"/>
              </a:ext>
            </a:extLst>
          </p:cNvPr>
          <p:cNvCxnSpPr/>
          <p:nvPr/>
        </p:nvCxnSpPr>
        <p:spPr>
          <a:xfrm>
            <a:off x="4089400" y="3340100"/>
            <a:ext cx="406400" cy="0"/>
          </a:xfrm>
          <a:prstGeom prst="line">
            <a:avLst/>
          </a:prstGeom>
          <a:ln w="15875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F7F56648-5C98-ACA1-5D0C-5C5A3021D8AC}"/>
              </a:ext>
            </a:extLst>
          </p:cNvPr>
          <p:cNvCxnSpPr/>
          <p:nvPr/>
        </p:nvCxnSpPr>
        <p:spPr>
          <a:xfrm>
            <a:off x="7670800" y="3340100"/>
            <a:ext cx="406400" cy="0"/>
          </a:xfrm>
          <a:prstGeom prst="line">
            <a:avLst/>
          </a:prstGeom>
          <a:ln w="15875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ectangle 21">
            <a:extLst>
              <a:ext uri="{FF2B5EF4-FFF2-40B4-BE49-F238E27FC236}">
                <a16:creationId xmlns:a16="http://schemas.microsoft.com/office/drawing/2014/main" id="{C5748A92-411D-8AE8-1C6A-4DC58FB3A1A1}"/>
              </a:ext>
            </a:extLst>
          </p:cNvPr>
          <p:cNvSpPr/>
          <p:nvPr/>
        </p:nvSpPr>
        <p:spPr>
          <a:xfrm>
            <a:off x="0" y="0"/>
            <a:ext cx="12192000" cy="101600"/>
          </a:xfrm>
          <a:prstGeom prst="rect">
            <a:avLst/>
          </a:prstGeom>
          <a:solidFill>
            <a:srgbClr val="D33333"/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B67517F2-C689-ED22-3129-19DB7344B3A0}"/>
              </a:ext>
            </a:extLst>
          </p:cNvPr>
          <p:cNvSpPr/>
          <p:nvPr/>
        </p:nvSpPr>
        <p:spPr>
          <a:xfrm>
            <a:off x="9906000" y="279400"/>
            <a:ext cx="1600200" cy="381000"/>
          </a:xfrm>
          <a:prstGeom prst="roundRect">
            <a:avLst/>
          </a:prstGeom>
          <a:solidFill>
            <a:srgbClr val="374151"/>
          </a:solidFill>
          <a:ln>
            <a:solidFill>
              <a:srgbClr val="4B556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96955D9-D40B-0BEF-E8FE-FD931B6D3AEB}"/>
              </a:ext>
            </a:extLst>
          </p:cNvPr>
          <p:cNvSpPr txBox="1"/>
          <p:nvPr/>
        </p:nvSpPr>
        <p:spPr>
          <a:xfrm>
            <a:off x="558800" y="6477000"/>
            <a:ext cx="9652000" cy="215444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CBD5E1"/>
                </a:solidFill>
              </a14:hiddenLine>
            </a:ext>
          </a:extLst>
        </p:spPr>
        <p:txBody>
          <a:bodyPr vert="horz" rtlCol="0">
            <a:spAutoFit/>
          </a:bodyPr>
          <a:lstStyle/>
          <a:p>
            <a:r>
              <a:rPr lang="ru-RU" sz="800">
                <a:solidFill>
                  <a:srgbClr val="64748B"/>
                </a:solidFill>
                <a:latin typeface="Segoe UI" panose="020B0502040204020203" pitchFamily="34" charset="0"/>
              </a:rPr>
              <a:t>Проблем и подход</a:t>
            </a:r>
            <a:endParaRPr lang="en-US" sz="800">
              <a:solidFill>
                <a:srgbClr val="64748B"/>
              </a:solidFill>
              <a:latin typeface="Segoe UI" panose="020B0502040204020203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6450888-B2CE-10A6-6C12-9B64C7D227D7}"/>
              </a:ext>
            </a:extLst>
          </p:cNvPr>
          <p:cNvSpPr txBox="1"/>
          <p:nvPr/>
        </p:nvSpPr>
        <p:spPr>
          <a:xfrm>
            <a:off x="1092200" y="2209800"/>
            <a:ext cx="2819400" cy="2308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ru-RU" sz="1500" b="1">
                <a:solidFill>
                  <a:srgbClr val="1F2937"/>
                </a:solidFill>
                <a:latin typeface="Segoe UI" panose="020B0502040204020203" pitchFamily="34" charset="0"/>
              </a:rPr>
              <a:t>Преди</a:t>
            </a:r>
            <a:endParaRPr lang="en-US" sz="1500" b="1">
              <a:solidFill>
                <a:srgbClr val="1F2937"/>
              </a:solidFill>
              <a:latin typeface="Segoe UI" panose="020B0502040204020203" pitchFamily="34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195848B-2EF9-43FF-B8DD-F04880083A63}"/>
              </a:ext>
            </a:extLst>
          </p:cNvPr>
          <p:cNvSpPr txBox="1"/>
          <p:nvPr/>
        </p:nvSpPr>
        <p:spPr>
          <a:xfrm>
            <a:off x="8255000" y="2209800"/>
            <a:ext cx="2819400" cy="2308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ru-RU" sz="1500" b="1">
                <a:solidFill>
                  <a:srgbClr val="1F2937"/>
                </a:solidFill>
                <a:latin typeface="Segoe UI" panose="020B0502040204020203" pitchFamily="34" charset="0"/>
              </a:rPr>
              <a:t>Ефект</a:t>
            </a:r>
            <a:endParaRPr lang="en-US" sz="1500" b="1">
              <a:solidFill>
                <a:srgbClr val="1F2937"/>
              </a:solidFill>
              <a:latin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C3D7586-AC56-3960-57FF-8278A96EF314}"/>
              </a:ext>
            </a:extLst>
          </p:cNvPr>
          <p:cNvSpPr txBox="1"/>
          <p:nvPr/>
        </p:nvSpPr>
        <p:spPr>
          <a:xfrm>
            <a:off x="558800" y="457200"/>
            <a:ext cx="10414000" cy="44627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ru-RU" sz="2900" b="1">
                <a:solidFill>
                  <a:srgbClr val="FFFFFF"/>
                </a:solidFill>
                <a:latin typeface="Segoe UI" panose="020B0502040204020203" pitchFamily="34" charset="0"/>
              </a:rPr>
              <a:t>От ръчен процес към автоматизирана доставка</a:t>
            </a:r>
            <a:endParaRPr lang="en-US" sz="2900" b="1">
              <a:solidFill>
                <a:srgbClr val="FFFFFF"/>
              </a:solidFill>
              <a:latin typeface="Segoe UI" panose="020B0502040204020203" pitchFamily="34" charset="0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74F150B8-0796-A4B5-B1B0-61F85D55C2D7}"/>
              </a:ext>
            </a:extLst>
          </p:cNvPr>
          <p:cNvSpPr txBox="1"/>
          <p:nvPr/>
        </p:nvSpPr>
        <p:spPr>
          <a:xfrm>
            <a:off x="10109200" y="368300"/>
            <a:ext cx="1193800" cy="22313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850" b="1">
                <a:solidFill>
                  <a:srgbClr val="FFFFFF"/>
                </a:solidFill>
                <a:latin typeface="Segoe UI" panose="020B0502040204020203" pitchFamily="34" charset="0"/>
              </a:rPr>
              <a:t>Jenkins CI/CD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B12757E-7027-019B-F6B4-14A422FA4712}"/>
              </a:ext>
            </a:extLst>
          </p:cNvPr>
          <p:cNvSpPr txBox="1"/>
          <p:nvPr/>
        </p:nvSpPr>
        <p:spPr>
          <a:xfrm>
            <a:off x="4673600" y="2209800"/>
            <a:ext cx="2819400" cy="2308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ru-RU" sz="1500" b="1">
                <a:solidFill>
                  <a:srgbClr val="1F2937"/>
                </a:solidFill>
                <a:latin typeface="Segoe UI" panose="020B0502040204020203" pitchFamily="34" charset="0"/>
              </a:rPr>
              <a:t>След</a:t>
            </a:r>
            <a:endParaRPr lang="en-US" sz="1500" b="1">
              <a:solidFill>
                <a:srgbClr val="1F2937"/>
              </a:solidFill>
              <a:latin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1366006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Rectangle 37">
            <a:extLst>
              <a:ext uri="{FF2B5EF4-FFF2-40B4-BE49-F238E27FC236}">
                <a16:creationId xmlns:a16="http://schemas.microsoft.com/office/drawing/2014/main" id="{EA692D35-DC38-1A67-4275-C16B6D05DAAB}"/>
              </a:ext>
            </a:extLst>
          </p:cNvPr>
          <p:cNvSpPr/>
          <p:nvPr/>
        </p:nvSpPr>
        <p:spPr>
          <a:xfrm>
            <a:off x="0" y="0"/>
            <a:ext cx="12192000" cy="1117600"/>
          </a:xfrm>
          <a:prstGeom prst="rect">
            <a:avLst/>
          </a:prstGeom>
          <a:solidFill>
            <a:srgbClr val="1F2937"/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62D154E-0805-0A6C-6E60-5BBFF76A9B09}"/>
              </a:ext>
            </a:extLst>
          </p:cNvPr>
          <p:cNvSpPr/>
          <p:nvPr/>
        </p:nvSpPr>
        <p:spPr>
          <a:xfrm>
            <a:off x="0" y="0"/>
            <a:ext cx="12192000" cy="127000"/>
          </a:xfrm>
          <a:prstGeom prst="rect">
            <a:avLst/>
          </a:prstGeom>
          <a:solidFill>
            <a:srgbClr val="D33333"/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68772BB-6F5F-426D-FE92-38EDFCB16577}"/>
              </a:ext>
            </a:extLst>
          </p:cNvPr>
          <p:cNvSpPr txBox="1"/>
          <p:nvPr/>
        </p:nvSpPr>
        <p:spPr>
          <a:xfrm>
            <a:off x="11303000" y="6451600"/>
            <a:ext cx="508000" cy="215444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CBD5E1"/>
                </a:solidFill>
              </a14:hiddenLine>
            </a:ext>
          </a:extLst>
        </p:spPr>
        <p:txBody>
          <a:bodyPr vert="horz" rtlCol="0">
            <a:spAutoFit/>
          </a:bodyPr>
          <a:lstStyle/>
          <a:p>
            <a:pPr algn="ctr"/>
            <a:r>
              <a:rPr lang="en-US" sz="800">
                <a:solidFill>
                  <a:srgbClr val="64748B"/>
                </a:solidFill>
                <a:latin typeface="Segoe UI" panose="020B0502040204020203" pitchFamily="34" charset="0"/>
              </a:rPr>
              <a:t>4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AA2E677-1EBD-6D57-A782-0188F2ACD105}"/>
              </a:ext>
            </a:extLst>
          </p:cNvPr>
          <p:cNvSpPr txBox="1"/>
          <p:nvPr/>
        </p:nvSpPr>
        <p:spPr>
          <a:xfrm>
            <a:off x="584200" y="1117600"/>
            <a:ext cx="9906000" cy="184666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CBD5E1"/>
                </a:solidFill>
              </a14:hiddenLine>
            </a:ext>
          </a:extLst>
        </p:spPr>
        <p:txBody>
          <a:bodyPr vert="horz" wrap="square" lIns="0" tIns="0" rIns="0" bIns="0" rtlCol="0">
            <a:spAutoFit/>
          </a:bodyPr>
          <a:lstStyle/>
          <a:p>
            <a:r>
              <a:rPr lang="ru-RU" sz="1200" b="1">
                <a:solidFill>
                  <a:srgbClr val="64748B"/>
                </a:solidFill>
                <a:latin typeface="Segoe UI" panose="020B0502040204020203" pitchFamily="34" charset="0"/>
              </a:rPr>
              <a:t>Услугите са разделени във виртуални машини и комуникират през вътрешна мрежа.</a:t>
            </a:r>
            <a:endParaRPr lang="en-US" sz="1200" b="1">
              <a:solidFill>
                <a:srgbClr val="64748B"/>
              </a:solidFill>
              <a:latin typeface="Segoe UI" panose="020B0502040204020203" pitchFamily="34" charset="0"/>
            </a:endParaRP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B89494FE-DABF-5D8E-36AB-2AA00A5B91F7}"/>
              </a:ext>
            </a:extLst>
          </p:cNvPr>
          <p:cNvSpPr/>
          <p:nvPr/>
        </p:nvSpPr>
        <p:spPr>
          <a:xfrm>
            <a:off x="660400" y="2082800"/>
            <a:ext cx="2032000" cy="1168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5082A74-B1F9-E080-8ADD-D1194DDC9476}"/>
              </a:ext>
            </a:extLst>
          </p:cNvPr>
          <p:cNvSpPr/>
          <p:nvPr/>
        </p:nvSpPr>
        <p:spPr>
          <a:xfrm>
            <a:off x="660400" y="2082800"/>
            <a:ext cx="2032000" cy="76200"/>
          </a:xfrm>
          <a:prstGeom prst="rect">
            <a:avLst/>
          </a:prstGeom>
          <a:solidFill>
            <a:srgbClr val="D33333"/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68C4698-3091-8918-3C67-85F1E7AB77AC}"/>
              </a:ext>
            </a:extLst>
          </p:cNvPr>
          <p:cNvSpPr txBox="1"/>
          <p:nvPr/>
        </p:nvSpPr>
        <p:spPr>
          <a:xfrm>
            <a:off x="838200" y="2641600"/>
            <a:ext cx="1676400" cy="3077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ru-RU" sz="1000">
                <a:solidFill>
                  <a:srgbClr val="1F2937"/>
                </a:solidFill>
                <a:latin typeface="Segoe UI" panose="020B0502040204020203" pitchFamily="34" charset="0"/>
              </a:rPr>
              <a:t>Изходен код</a:t>
            </a:r>
          </a:p>
          <a:p>
            <a:r>
              <a:rPr lang="en-US" sz="1000">
                <a:solidFill>
                  <a:srgbClr val="1F2937"/>
                </a:solidFill>
                <a:latin typeface="Segoe UI" panose="020B0502040204020203" pitchFamily="34" charset="0"/>
              </a:rPr>
              <a:t>Branch </a:t>
            </a:r>
            <a:r>
              <a:rPr lang="ru-RU" sz="1000">
                <a:solidFill>
                  <a:srgbClr val="1F2937"/>
                </a:solidFill>
                <a:latin typeface="Segoe UI" panose="020B0502040204020203" pitchFamily="34" charset="0"/>
              </a:rPr>
              <a:t>стратегия</a:t>
            </a:r>
            <a:endParaRPr lang="en-US" sz="1000">
              <a:solidFill>
                <a:srgbClr val="1F2937"/>
              </a:solidFill>
              <a:latin typeface="Segoe UI" panose="020B0502040204020203" pitchFamily="34" charset="0"/>
            </a:endParaRP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71319968-8E2B-27A1-8A10-1506C653983E}"/>
              </a:ext>
            </a:extLst>
          </p:cNvPr>
          <p:cNvSpPr/>
          <p:nvPr/>
        </p:nvSpPr>
        <p:spPr>
          <a:xfrm>
            <a:off x="3556000" y="1854200"/>
            <a:ext cx="2286000" cy="1651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B8E0487-4541-80DE-2AF2-25D4EE1902AE}"/>
              </a:ext>
            </a:extLst>
          </p:cNvPr>
          <p:cNvSpPr/>
          <p:nvPr/>
        </p:nvSpPr>
        <p:spPr>
          <a:xfrm>
            <a:off x="3556000" y="1854200"/>
            <a:ext cx="2286000" cy="76200"/>
          </a:xfrm>
          <a:prstGeom prst="rect">
            <a:avLst/>
          </a:prstGeom>
          <a:solidFill>
            <a:srgbClr val="D33333"/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ED6C54A-574C-023B-38ED-879251E23E6D}"/>
              </a:ext>
            </a:extLst>
          </p:cNvPr>
          <p:cNvSpPr txBox="1"/>
          <p:nvPr/>
        </p:nvSpPr>
        <p:spPr>
          <a:xfrm>
            <a:off x="3733800" y="2413000"/>
            <a:ext cx="1930400" cy="46166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000">
                <a:solidFill>
                  <a:srgbClr val="1F2937"/>
                </a:solidFill>
                <a:latin typeface="Segoe UI" panose="020B0502040204020203" pitchFamily="34" charset="0"/>
              </a:rPr>
              <a:t>Pipeline orchestration</a:t>
            </a:r>
          </a:p>
          <a:p>
            <a:r>
              <a:rPr lang="en-US" sz="1000">
                <a:solidFill>
                  <a:srgbClr val="1F2937"/>
                </a:solidFill>
                <a:latin typeface="Segoe UI" panose="020B0502040204020203" pitchFamily="34" charset="0"/>
              </a:rPr>
              <a:t>Credentials</a:t>
            </a:r>
          </a:p>
          <a:p>
            <a:r>
              <a:rPr lang="en-US" sz="1000">
                <a:solidFill>
                  <a:srgbClr val="1F2937"/>
                </a:solidFill>
                <a:latin typeface="Segoe UI" panose="020B0502040204020203" pitchFamily="34" charset="0"/>
              </a:rPr>
              <a:t>Logs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B2056514-3503-4013-C43D-31B1179D5A15}"/>
              </a:ext>
            </a:extLst>
          </p:cNvPr>
          <p:cNvSpPr/>
          <p:nvPr/>
        </p:nvSpPr>
        <p:spPr>
          <a:xfrm>
            <a:off x="7086600" y="2139043"/>
            <a:ext cx="2159000" cy="1066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7ADF307-2E2E-1909-7BFD-F3F76F95B84A}"/>
              </a:ext>
            </a:extLst>
          </p:cNvPr>
          <p:cNvSpPr/>
          <p:nvPr/>
        </p:nvSpPr>
        <p:spPr>
          <a:xfrm>
            <a:off x="7086600" y="2139043"/>
            <a:ext cx="2159000" cy="76200"/>
          </a:xfrm>
          <a:prstGeom prst="rect">
            <a:avLst/>
          </a:prstGeom>
          <a:solidFill>
            <a:srgbClr val="D33333"/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ADB8C1F-EDAE-6F77-F8EE-FCB43E577DA6}"/>
              </a:ext>
            </a:extLst>
          </p:cNvPr>
          <p:cNvSpPr txBox="1"/>
          <p:nvPr/>
        </p:nvSpPr>
        <p:spPr>
          <a:xfrm>
            <a:off x="7264400" y="2697843"/>
            <a:ext cx="1803400" cy="3077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000">
                <a:solidFill>
                  <a:srgbClr val="1F2937"/>
                </a:solidFill>
                <a:latin typeface="Segoe UI" panose="020B0502040204020203" pitchFamily="34" charset="0"/>
              </a:rPr>
              <a:t>Static analysis</a:t>
            </a:r>
          </a:p>
          <a:p>
            <a:r>
              <a:rPr lang="en-US" sz="1000">
                <a:solidFill>
                  <a:srgbClr val="1F2937"/>
                </a:solidFill>
                <a:latin typeface="Segoe UI" panose="020B0502040204020203" pitchFamily="34" charset="0"/>
              </a:rPr>
              <a:t>Quality Gate</a:t>
            </a: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F9B736FF-ED08-7F6D-5E8A-5A16EF780997}"/>
              </a:ext>
            </a:extLst>
          </p:cNvPr>
          <p:cNvSpPr/>
          <p:nvPr/>
        </p:nvSpPr>
        <p:spPr>
          <a:xfrm>
            <a:off x="9569704" y="3018065"/>
            <a:ext cx="2159000" cy="1168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A352D28-5C8F-C7ED-8157-3019E4032F8E}"/>
              </a:ext>
            </a:extLst>
          </p:cNvPr>
          <p:cNvSpPr/>
          <p:nvPr/>
        </p:nvSpPr>
        <p:spPr>
          <a:xfrm>
            <a:off x="9569704" y="3018065"/>
            <a:ext cx="2159000" cy="76200"/>
          </a:xfrm>
          <a:prstGeom prst="rect">
            <a:avLst/>
          </a:prstGeom>
          <a:solidFill>
            <a:srgbClr val="D33333"/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84861B9-C4F3-E238-F089-A4148B622C65}"/>
              </a:ext>
            </a:extLst>
          </p:cNvPr>
          <p:cNvSpPr txBox="1"/>
          <p:nvPr/>
        </p:nvSpPr>
        <p:spPr>
          <a:xfrm>
            <a:off x="9747504" y="3576865"/>
            <a:ext cx="1803400" cy="3077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000">
                <a:solidFill>
                  <a:srgbClr val="1F2937"/>
                </a:solidFill>
                <a:latin typeface="Segoe UI" panose="020B0502040204020203" pitchFamily="34" charset="0"/>
              </a:rPr>
              <a:t>Build artifacts</a:t>
            </a:r>
          </a:p>
          <a:p>
            <a:r>
              <a:rPr lang="en-US" sz="1000">
                <a:solidFill>
                  <a:srgbClr val="1F2937"/>
                </a:solidFill>
                <a:latin typeface="Segoe UI" panose="020B0502040204020203" pitchFamily="34" charset="0"/>
              </a:rPr>
              <a:t>APK / API / Web packages</a:t>
            </a: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5E0EA662-CACF-2219-4CAC-2BA5B59FBD87}"/>
              </a:ext>
            </a:extLst>
          </p:cNvPr>
          <p:cNvSpPr/>
          <p:nvPr/>
        </p:nvSpPr>
        <p:spPr>
          <a:xfrm>
            <a:off x="7264400" y="4624190"/>
            <a:ext cx="2159000" cy="1168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B44C31BD-76E0-479C-1C68-59705DE71C99}"/>
              </a:ext>
            </a:extLst>
          </p:cNvPr>
          <p:cNvSpPr/>
          <p:nvPr/>
        </p:nvSpPr>
        <p:spPr>
          <a:xfrm>
            <a:off x="7264400" y="4624190"/>
            <a:ext cx="2159000" cy="76200"/>
          </a:xfrm>
          <a:prstGeom prst="rect">
            <a:avLst/>
          </a:prstGeom>
          <a:solidFill>
            <a:srgbClr val="D33333"/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17731C28-DE54-1435-4A62-3653982DE90B}"/>
              </a:ext>
            </a:extLst>
          </p:cNvPr>
          <p:cNvSpPr txBox="1"/>
          <p:nvPr/>
        </p:nvSpPr>
        <p:spPr>
          <a:xfrm>
            <a:off x="7442200" y="5182990"/>
            <a:ext cx="1803400" cy="3077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000">
                <a:solidFill>
                  <a:srgbClr val="1F2937"/>
                </a:solidFill>
                <a:latin typeface="Segoe UI" panose="020B0502040204020203" pitchFamily="34" charset="0"/>
              </a:rPr>
              <a:t>Runtime images</a:t>
            </a:r>
          </a:p>
          <a:p>
            <a:r>
              <a:rPr lang="en-US" sz="1000">
                <a:solidFill>
                  <a:srgbClr val="1F2937"/>
                </a:solidFill>
                <a:latin typeface="Segoe UI" panose="020B0502040204020203" pitchFamily="34" charset="0"/>
              </a:rPr>
              <a:t>bankapp-api / bankapp-web</a:t>
            </a:r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1FA9570B-7237-C662-14BB-50A7974DE8FA}"/>
              </a:ext>
            </a:extLst>
          </p:cNvPr>
          <p:cNvSpPr/>
          <p:nvPr/>
        </p:nvSpPr>
        <p:spPr>
          <a:xfrm>
            <a:off x="4405630" y="4485989"/>
            <a:ext cx="1905000" cy="1549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C3CFF2D2-BF02-2231-A196-F1E7FD60A5C9}"/>
              </a:ext>
            </a:extLst>
          </p:cNvPr>
          <p:cNvSpPr/>
          <p:nvPr/>
        </p:nvSpPr>
        <p:spPr>
          <a:xfrm>
            <a:off x="4405630" y="4485989"/>
            <a:ext cx="1905000" cy="76200"/>
          </a:xfrm>
          <a:prstGeom prst="rect">
            <a:avLst/>
          </a:prstGeom>
          <a:solidFill>
            <a:srgbClr val="D33333"/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52448D2E-7990-6D98-2B56-9008F0C756DF}"/>
              </a:ext>
            </a:extLst>
          </p:cNvPr>
          <p:cNvSpPr txBox="1"/>
          <p:nvPr/>
        </p:nvSpPr>
        <p:spPr>
          <a:xfrm>
            <a:off x="4583430" y="5044789"/>
            <a:ext cx="1549400" cy="46166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000">
                <a:solidFill>
                  <a:srgbClr val="1F2937"/>
                </a:solidFill>
                <a:latin typeface="Segoe UI" panose="020B0502040204020203" pitchFamily="34" charset="0"/>
              </a:rPr>
              <a:t>Docker Compose</a:t>
            </a:r>
          </a:p>
          <a:p>
            <a:r>
              <a:rPr lang="en-US" sz="1000">
                <a:solidFill>
                  <a:srgbClr val="1F2937"/>
                </a:solidFill>
                <a:latin typeface="Segoe UI" panose="020B0502040204020203" pitchFamily="34" charset="0"/>
              </a:rPr>
              <a:t>API + Web containers</a:t>
            </a:r>
          </a:p>
          <a:p>
            <a:r>
              <a:rPr lang="en-US" sz="1000">
                <a:solidFill>
                  <a:srgbClr val="1F2937"/>
                </a:solidFill>
                <a:latin typeface="Segoe UI" panose="020B0502040204020203" pitchFamily="34" charset="0"/>
              </a:rPr>
              <a:t>Ollama service</a:t>
            </a:r>
          </a:p>
        </p:txBody>
      </p: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2BA219B1-E094-1AF3-1EDC-EF40186546DB}"/>
              </a:ext>
            </a:extLst>
          </p:cNvPr>
          <p:cNvSpPr/>
          <p:nvPr/>
        </p:nvSpPr>
        <p:spPr>
          <a:xfrm>
            <a:off x="1651000" y="4571929"/>
            <a:ext cx="1905000" cy="1066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BC7326F8-BB09-447F-A1C6-5FB024CB071E}"/>
              </a:ext>
            </a:extLst>
          </p:cNvPr>
          <p:cNvSpPr/>
          <p:nvPr/>
        </p:nvSpPr>
        <p:spPr>
          <a:xfrm>
            <a:off x="1651000" y="4571929"/>
            <a:ext cx="1905000" cy="76200"/>
          </a:xfrm>
          <a:prstGeom prst="rect">
            <a:avLst/>
          </a:prstGeom>
          <a:solidFill>
            <a:srgbClr val="D33333"/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A6CB925F-310B-5F42-04FA-81B8985F5116}"/>
              </a:ext>
            </a:extLst>
          </p:cNvPr>
          <p:cNvSpPr txBox="1"/>
          <p:nvPr/>
        </p:nvSpPr>
        <p:spPr>
          <a:xfrm>
            <a:off x="1828800" y="5130729"/>
            <a:ext cx="1549400" cy="3077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000">
                <a:solidFill>
                  <a:srgbClr val="1F2937"/>
                </a:solidFill>
                <a:latin typeface="Segoe UI" panose="020B0502040204020203" pitchFamily="34" charset="0"/>
              </a:rPr>
              <a:t>SQL Server</a:t>
            </a:r>
          </a:p>
          <a:p>
            <a:r>
              <a:rPr lang="en-US" sz="1000">
                <a:solidFill>
                  <a:srgbClr val="1F2937"/>
                </a:solidFill>
                <a:latin typeface="Segoe UI" panose="020B0502040204020203" pitchFamily="34" charset="0"/>
              </a:rPr>
              <a:t>Persistent data</a:t>
            </a:r>
          </a:p>
        </p:txBody>
      </p: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1F58732A-0685-D723-86FC-6AA36780FF23}"/>
              </a:ext>
            </a:extLst>
          </p:cNvPr>
          <p:cNvCxnSpPr/>
          <p:nvPr/>
        </p:nvCxnSpPr>
        <p:spPr>
          <a:xfrm>
            <a:off x="2692400" y="2667000"/>
            <a:ext cx="863600" cy="0"/>
          </a:xfrm>
          <a:prstGeom prst="line">
            <a:avLst/>
          </a:prstGeom>
          <a:ln w="15875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A3DE6681-3886-8EC8-8036-9725DFDFB184}"/>
              </a:ext>
            </a:extLst>
          </p:cNvPr>
          <p:cNvCxnSpPr>
            <a:cxnSpLocks/>
            <a:endCxn id="15" idx="1"/>
          </p:cNvCxnSpPr>
          <p:nvPr/>
        </p:nvCxnSpPr>
        <p:spPr>
          <a:xfrm>
            <a:off x="5842000" y="2490948"/>
            <a:ext cx="1244600" cy="181495"/>
          </a:xfrm>
          <a:prstGeom prst="line">
            <a:avLst/>
          </a:prstGeom>
          <a:ln w="15875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F51FA78A-B1C6-B864-A317-E31513A1B1CC}"/>
              </a:ext>
            </a:extLst>
          </p:cNvPr>
          <p:cNvCxnSpPr>
            <a:cxnSpLocks/>
            <a:stCxn id="15" idx="2"/>
            <a:endCxn id="19" idx="1"/>
          </p:cNvCxnSpPr>
          <p:nvPr/>
        </p:nvCxnSpPr>
        <p:spPr>
          <a:xfrm>
            <a:off x="8166100" y="3205843"/>
            <a:ext cx="1403604" cy="396422"/>
          </a:xfrm>
          <a:prstGeom prst="line">
            <a:avLst/>
          </a:prstGeom>
          <a:ln w="15875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9ACEC20A-F01E-A4B1-3072-D276057C8509}"/>
              </a:ext>
            </a:extLst>
          </p:cNvPr>
          <p:cNvCxnSpPr>
            <a:cxnSpLocks/>
            <a:stCxn id="19" idx="2"/>
            <a:endCxn id="23" idx="3"/>
          </p:cNvCxnSpPr>
          <p:nvPr/>
        </p:nvCxnSpPr>
        <p:spPr>
          <a:xfrm flipH="1">
            <a:off x="9423400" y="4186465"/>
            <a:ext cx="1225804" cy="1021925"/>
          </a:xfrm>
          <a:prstGeom prst="line">
            <a:avLst/>
          </a:prstGeom>
          <a:ln w="15875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022AF2F9-A7D8-609F-CE53-D324932D3C68}"/>
              </a:ext>
            </a:extLst>
          </p:cNvPr>
          <p:cNvCxnSpPr>
            <a:cxnSpLocks/>
            <a:stCxn id="27" idx="1"/>
            <a:endCxn id="31" idx="3"/>
          </p:cNvCxnSpPr>
          <p:nvPr/>
        </p:nvCxnSpPr>
        <p:spPr>
          <a:xfrm flipH="1" flipV="1">
            <a:off x="3556000" y="5105329"/>
            <a:ext cx="849630" cy="155360"/>
          </a:xfrm>
          <a:prstGeom prst="line">
            <a:avLst/>
          </a:prstGeom>
          <a:ln w="15875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4769201C-C1D4-38AE-6F09-4EB18DF1A4BA}"/>
              </a:ext>
            </a:extLst>
          </p:cNvPr>
          <p:cNvCxnSpPr>
            <a:cxnSpLocks/>
            <a:stCxn id="23" idx="1"/>
            <a:endCxn id="27" idx="3"/>
          </p:cNvCxnSpPr>
          <p:nvPr/>
        </p:nvCxnSpPr>
        <p:spPr>
          <a:xfrm flipH="1">
            <a:off x="6310630" y="5208390"/>
            <a:ext cx="953770" cy="52299"/>
          </a:xfrm>
          <a:prstGeom prst="line">
            <a:avLst/>
          </a:prstGeom>
          <a:ln w="15875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Rectangle 38">
            <a:extLst>
              <a:ext uri="{FF2B5EF4-FFF2-40B4-BE49-F238E27FC236}">
                <a16:creationId xmlns:a16="http://schemas.microsoft.com/office/drawing/2014/main" id="{84C0936D-6E90-D157-085B-0C43ABA5BCAF}"/>
              </a:ext>
            </a:extLst>
          </p:cNvPr>
          <p:cNvSpPr/>
          <p:nvPr/>
        </p:nvSpPr>
        <p:spPr>
          <a:xfrm>
            <a:off x="0" y="0"/>
            <a:ext cx="12192000" cy="101600"/>
          </a:xfrm>
          <a:prstGeom prst="rect">
            <a:avLst/>
          </a:prstGeom>
          <a:solidFill>
            <a:srgbClr val="D33333"/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Rectangle: Rounded Corners 39">
            <a:extLst>
              <a:ext uri="{FF2B5EF4-FFF2-40B4-BE49-F238E27FC236}">
                <a16:creationId xmlns:a16="http://schemas.microsoft.com/office/drawing/2014/main" id="{E32A619B-E01A-825F-C6FB-3B95BB048E6E}"/>
              </a:ext>
            </a:extLst>
          </p:cNvPr>
          <p:cNvSpPr/>
          <p:nvPr/>
        </p:nvSpPr>
        <p:spPr>
          <a:xfrm>
            <a:off x="9906000" y="279400"/>
            <a:ext cx="1600200" cy="381000"/>
          </a:xfrm>
          <a:prstGeom prst="roundRect">
            <a:avLst/>
          </a:prstGeom>
          <a:solidFill>
            <a:srgbClr val="374151"/>
          </a:solidFill>
          <a:ln>
            <a:solidFill>
              <a:srgbClr val="4B556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5A357A6-48E5-D54B-0EF1-4B46140EF402}"/>
              </a:ext>
            </a:extLst>
          </p:cNvPr>
          <p:cNvSpPr txBox="1"/>
          <p:nvPr/>
        </p:nvSpPr>
        <p:spPr>
          <a:xfrm>
            <a:off x="558800" y="6477000"/>
            <a:ext cx="9652000" cy="215444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CBD5E1"/>
                </a:solidFill>
              </a14:hiddenLine>
            </a:ext>
          </a:extLst>
        </p:spPr>
        <p:txBody>
          <a:bodyPr vert="horz" rtlCol="0">
            <a:spAutoFit/>
          </a:bodyPr>
          <a:lstStyle/>
          <a:p>
            <a:r>
              <a:rPr lang="ru-RU" sz="800">
                <a:solidFill>
                  <a:srgbClr val="64748B"/>
                </a:solidFill>
                <a:latin typeface="Segoe UI" panose="020B0502040204020203" pitchFamily="34" charset="0"/>
              </a:rPr>
              <a:t>Архитектура на инфраструктурата</a:t>
            </a:r>
            <a:endParaRPr lang="en-US" sz="800">
              <a:solidFill>
                <a:srgbClr val="64748B"/>
              </a:solidFill>
              <a:latin typeface="Segoe UI" panose="020B0502040204020203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E8B76E1-714E-13F2-D59F-BCD60B5D86B0}"/>
              </a:ext>
            </a:extLst>
          </p:cNvPr>
          <p:cNvSpPr txBox="1"/>
          <p:nvPr/>
        </p:nvSpPr>
        <p:spPr>
          <a:xfrm>
            <a:off x="838200" y="2286000"/>
            <a:ext cx="1676400" cy="2308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500" b="1">
                <a:solidFill>
                  <a:srgbClr val="1F2937"/>
                </a:solidFill>
                <a:latin typeface="Segoe UI" panose="020B0502040204020203" pitchFamily="34" charset="0"/>
              </a:rPr>
              <a:t>GitHub Repository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078859E-2B31-B63C-FC0F-252B713CDF13}"/>
              </a:ext>
            </a:extLst>
          </p:cNvPr>
          <p:cNvSpPr txBox="1"/>
          <p:nvPr/>
        </p:nvSpPr>
        <p:spPr>
          <a:xfrm>
            <a:off x="7264400" y="2342243"/>
            <a:ext cx="1803400" cy="2308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500" b="1">
                <a:solidFill>
                  <a:srgbClr val="1F2937"/>
                </a:solidFill>
                <a:latin typeface="Segoe UI" panose="020B0502040204020203" pitchFamily="34" charset="0"/>
              </a:rPr>
              <a:t>SonarQube VM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E548A931-F535-BCAB-B935-300E6069226B}"/>
              </a:ext>
            </a:extLst>
          </p:cNvPr>
          <p:cNvSpPr txBox="1"/>
          <p:nvPr/>
        </p:nvSpPr>
        <p:spPr>
          <a:xfrm>
            <a:off x="7442200" y="4827390"/>
            <a:ext cx="1803400" cy="2308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500" b="1">
                <a:solidFill>
                  <a:srgbClr val="1F2937"/>
                </a:solidFill>
                <a:latin typeface="Segoe UI" panose="020B0502040204020203" pitchFamily="34" charset="0"/>
              </a:rPr>
              <a:t>Docker Hub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EE756685-D0E0-9545-754C-E4DF9140C31D}"/>
              </a:ext>
            </a:extLst>
          </p:cNvPr>
          <p:cNvSpPr txBox="1"/>
          <p:nvPr/>
        </p:nvSpPr>
        <p:spPr>
          <a:xfrm>
            <a:off x="1828800" y="4775129"/>
            <a:ext cx="1549400" cy="2308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500" b="1">
                <a:solidFill>
                  <a:srgbClr val="1F2937"/>
                </a:solidFill>
                <a:latin typeface="Segoe UI" panose="020B0502040204020203" pitchFamily="34" charset="0"/>
              </a:rPr>
              <a:t>DB VM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862CC7D-87C8-5C46-B772-201C7FFD2077}"/>
              </a:ext>
            </a:extLst>
          </p:cNvPr>
          <p:cNvSpPr txBox="1"/>
          <p:nvPr/>
        </p:nvSpPr>
        <p:spPr>
          <a:xfrm>
            <a:off x="558800" y="457200"/>
            <a:ext cx="10414000" cy="44627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ru-RU" sz="2900" b="1">
                <a:solidFill>
                  <a:srgbClr val="FFFFFF"/>
                </a:solidFill>
                <a:latin typeface="Segoe UI" panose="020B0502040204020203" pitchFamily="34" charset="0"/>
              </a:rPr>
              <a:t>Инфраструктурна архитектура</a:t>
            </a:r>
            <a:endParaRPr lang="en-US" sz="2900" b="1">
              <a:solidFill>
                <a:srgbClr val="FFFFFF"/>
              </a:solidFill>
              <a:latin typeface="Segoe UI" panose="020B0502040204020203" pitchFamily="34" charset="0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532B3D33-D102-8F08-0304-B089FD12A602}"/>
              </a:ext>
            </a:extLst>
          </p:cNvPr>
          <p:cNvSpPr txBox="1"/>
          <p:nvPr/>
        </p:nvSpPr>
        <p:spPr>
          <a:xfrm>
            <a:off x="9747504" y="3221265"/>
            <a:ext cx="1803400" cy="2308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500" b="1">
                <a:solidFill>
                  <a:srgbClr val="1F2937"/>
                </a:solidFill>
                <a:latin typeface="Segoe UI" panose="020B0502040204020203" pitchFamily="34" charset="0"/>
              </a:rPr>
              <a:t>Nexus VM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48263774-34B2-829E-A9AA-CC7397F5936A}"/>
              </a:ext>
            </a:extLst>
          </p:cNvPr>
          <p:cNvSpPr txBox="1"/>
          <p:nvPr/>
        </p:nvSpPr>
        <p:spPr>
          <a:xfrm>
            <a:off x="10109200" y="368300"/>
            <a:ext cx="1193800" cy="22313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850" b="1">
                <a:solidFill>
                  <a:srgbClr val="FFFFFF"/>
                </a:solidFill>
                <a:latin typeface="Segoe UI" panose="020B0502040204020203" pitchFamily="34" charset="0"/>
              </a:rPr>
              <a:t>Jenkins CI/CD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BE1FD08A-9E1C-7C07-F2FA-54E46A7EF871}"/>
              </a:ext>
            </a:extLst>
          </p:cNvPr>
          <p:cNvSpPr txBox="1"/>
          <p:nvPr/>
        </p:nvSpPr>
        <p:spPr>
          <a:xfrm>
            <a:off x="4583430" y="4689189"/>
            <a:ext cx="1549400" cy="2308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500" b="1">
                <a:solidFill>
                  <a:srgbClr val="1F2937"/>
                </a:solidFill>
                <a:latin typeface="Segoe UI" panose="020B0502040204020203" pitchFamily="34" charset="0"/>
              </a:rPr>
              <a:t>App VM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2986F42-7EB7-46D1-E77A-70430EB57B7F}"/>
              </a:ext>
            </a:extLst>
          </p:cNvPr>
          <p:cNvSpPr txBox="1"/>
          <p:nvPr/>
        </p:nvSpPr>
        <p:spPr>
          <a:xfrm>
            <a:off x="3733800" y="2057400"/>
            <a:ext cx="1930400" cy="2308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500" b="1">
                <a:solidFill>
                  <a:srgbClr val="1F2937"/>
                </a:solidFill>
                <a:latin typeface="Segoe UI" panose="020B0502040204020203" pitchFamily="34" charset="0"/>
              </a:rPr>
              <a:t>Jenkins VM</a:t>
            </a:r>
          </a:p>
        </p:txBody>
      </p:sp>
    </p:spTree>
    <p:extLst>
      <p:ext uri="{BB962C8B-B14F-4D97-AF65-F5344CB8AC3E}">
        <p14:creationId xmlns:p14="http://schemas.microsoft.com/office/powerpoint/2010/main" val="404182453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545E40E0-A100-6B28-8923-C50E57B74183}"/>
              </a:ext>
            </a:extLst>
          </p:cNvPr>
          <p:cNvSpPr/>
          <p:nvPr/>
        </p:nvSpPr>
        <p:spPr>
          <a:xfrm>
            <a:off x="0" y="0"/>
            <a:ext cx="12192000" cy="1117600"/>
          </a:xfrm>
          <a:prstGeom prst="rect">
            <a:avLst/>
          </a:prstGeom>
          <a:solidFill>
            <a:srgbClr val="1F2937"/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626A551-9F19-44A6-9A6A-0EBA5CB00870}"/>
              </a:ext>
            </a:extLst>
          </p:cNvPr>
          <p:cNvSpPr/>
          <p:nvPr/>
        </p:nvSpPr>
        <p:spPr>
          <a:xfrm>
            <a:off x="0" y="0"/>
            <a:ext cx="12192000" cy="127000"/>
          </a:xfrm>
          <a:prstGeom prst="rect">
            <a:avLst/>
          </a:prstGeom>
          <a:solidFill>
            <a:srgbClr val="D33333"/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7A95C31-A60A-2D1E-9436-30C1023184B2}"/>
              </a:ext>
            </a:extLst>
          </p:cNvPr>
          <p:cNvSpPr txBox="1"/>
          <p:nvPr/>
        </p:nvSpPr>
        <p:spPr>
          <a:xfrm>
            <a:off x="11303000" y="6451600"/>
            <a:ext cx="508000" cy="215444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CBD5E1"/>
                </a:solidFill>
              </a14:hiddenLine>
            </a:ext>
          </a:extLst>
        </p:spPr>
        <p:txBody>
          <a:bodyPr vert="horz" rtlCol="0">
            <a:spAutoFit/>
          </a:bodyPr>
          <a:lstStyle/>
          <a:p>
            <a:pPr algn="ctr"/>
            <a:r>
              <a:rPr lang="en-US" sz="800">
                <a:solidFill>
                  <a:srgbClr val="64748B"/>
                </a:solidFill>
                <a:latin typeface="Segoe UI" panose="020B0502040204020203" pitchFamily="34" charset="0"/>
              </a:rPr>
              <a:t>5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EF77CED-2D96-46CE-25D5-79A2FDFBAE1E}"/>
              </a:ext>
            </a:extLst>
          </p:cNvPr>
          <p:cNvSpPr txBox="1"/>
          <p:nvPr/>
        </p:nvSpPr>
        <p:spPr>
          <a:xfrm>
            <a:off x="584200" y="1117600"/>
            <a:ext cx="9906000" cy="184666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CBD5E1"/>
                </a:solidFill>
              </a14:hiddenLine>
            </a:ext>
          </a:extLst>
        </p:spPr>
        <p:txBody>
          <a:bodyPr vert="horz" wrap="square" lIns="0" tIns="0" rIns="0" bIns="0" rtlCol="0">
            <a:spAutoFit/>
          </a:bodyPr>
          <a:lstStyle/>
          <a:p>
            <a:r>
              <a:rPr lang="ru-RU" sz="1200" b="1">
                <a:solidFill>
                  <a:srgbClr val="64748B"/>
                </a:solidFill>
                <a:latin typeface="Segoe UI" panose="020B0502040204020203" pitchFamily="34" charset="0"/>
              </a:rPr>
              <a:t>Преминаването между средите е контролирано чрез Jenkins pipeline-и.</a:t>
            </a:r>
            <a:endParaRPr lang="en-US" sz="1200" b="1">
              <a:solidFill>
                <a:srgbClr val="64748B"/>
              </a:solidFill>
              <a:latin typeface="Segoe UI" panose="020B0502040204020203" pitchFamily="34" charset="0"/>
            </a:endParaRP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3CB12B26-B370-C2EF-1386-0B7487D09923}"/>
              </a:ext>
            </a:extLst>
          </p:cNvPr>
          <p:cNvSpPr/>
          <p:nvPr/>
        </p:nvSpPr>
        <p:spPr>
          <a:xfrm>
            <a:off x="914400" y="1905000"/>
            <a:ext cx="3048000" cy="2844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9C5B253-0B3E-8978-9DC9-93A4E53E3A89}"/>
              </a:ext>
            </a:extLst>
          </p:cNvPr>
          <p:cNvSpPr/>
          <p:nvPr/>
        </p:nvSpPr>
        <p:spPr>
          <a:xfrm>
            <a:off x="914400" y="1905000"/>
            <a:ext cx="3048000" cy="76200"/>
          </a:xfrm>
          <a:prstGeom prst="rect">
            <a:avLst/>
          </a:prstGeom>
          <a:solidFill>
            <a:srgbClr val="D33333"/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0EE56A2-9BE1-9A2C-4982-664123630963}"/>
              </a:ext>
            </a:extLst>
          </p:cNvPr>
          <p:cNvSpPr txBox="1"/>
          <p:nvPr/>
        </p:nvSpPr>
        <p:spPr>
          <a:xfrm>
            <a:off x="1092200" y="2463800"/>
            <a:ext cx="2692400" cy="615553"/>
          </a:xfrm>
          <a:prstGeom prst="rect">
            <a:avLst/>
          </a:prstGeom>
          <a:noFill/>
          <a:ln w="1397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3970">
                <a:solidFill>
                  <a:schemeClr val="tx1"/>
                </a:solidFill>
              </a14:hiddenLine>
            </a:ext>
          </a:extLst>
        </p:spPr>
        <p:txBody>
          <a:bodyPr vert="horz" wrap="square" lIns="0" tIns="0" rIns="0" bIns="0" rtlCol="0">
            <a:spAutoFit/>
          </a:bodyPr>
          <a:lstStyle/>
          <a:p>
            <a:r>
              <a:rPr lang="ru-RU" sz="1000">
                <a:solidFill>
                  <a:srgbClr val="1F2937"/>
                </a:solidFill>
                <a:latin typeface="Segoe UI" panose="020B0502040204020203" pitchFamily="34" charset="0"/>
              </a:rPr>
              <a:t>Автоматично стартиране при </a:t>
            </a:r>
            <a:r>
              <a:rPr lang="en-US" sz="1000">
                <a:solidFill>
                  <a:srgbClr val="1F2937"/>
                </a:solidFill>
                <a:latin typeface="Segoe UI" panose="020B0502040204020203" pitchFamily="34" charset="0"/>
              </a:rPr>
              <a:t>commit</a:t>
            </a:r>
          </a:p>
          <a:p>
            <a:r>
              <a:rPr lang="en-US" sz="1000">
                <a:solidFill>
                  <a:srgbClr val="1F2937"/>
                </a:solidFill>
                <a:latin typeface="Segoe UI" panose="020B0502040204020203" pitchFamily="34" charset="0"/>
              </a:rPr>
              <a:t>Build API + Web</a:t>
            </a:r>
          </a:p>
          <a:p>
            <a:r>
              <a:rPr lang="en-US" sz="1000">
                <a:solidFill>
                  <a:srgbClr val="1F2937"/>
                </a:solidFill>
                <a:latin typeface="Segoe UI" panose="020B0502040204020203" pitchFamily="34" charset="0"/>
              </a:rPr>
              <a:t>Unit tests</a:t>
            </a:r>
          </a:p>
          <a:p>
            <a:r>
              <a:rPr lang="en-US" sz="1000">
                <a:solidFill>
                  <a:srgbClr val="1F2937"/>
                </a:solidFill>
                <a:latin typeface="Segoe UI" panose="020B0502040204020203" pitchFamily="34" charset="0"/>
              </a:rPr>
              <a:t>Promote </a:t>
            </a:r>
            <a:r>
              <a:rPr lang="ru-RU" sz="1000">
                <a:solidFill>
                  <a:srgbClr val="1F2937"/>
                </a:solidFill>
                <a:latin typeface="Segoe UI" panose="020B0502040204020203" pitchFamily="34" charset="0"/>
              </a:rPr>
              <a:t>към </a:t>
            </a:r>
            <a:r>
              <a:rPr lang="en-US" sz="1000">
                <a:solidFill>
                  <a:srgbClr val="1F2937"/>
                </a:solidFill>
                <a:latin typeface="Segoe UI" panose="020B0502040204020203" pitchFamily="34" charset="0"/>
              </a:rPr>
              <a:t>test </a:t>
            </a:r>
            <a:r>
              <a:rPr lang="ru-RU" sz="1000">
                <a:solidFill>
                  <a:srgbClr val="1F2937"/>
                </a:solidFill>
                <a:latin typeface="Segoe UI" panose="020B0502040204020203" pitchFamily="34" charset="0"/>
              </a:rPr>
              <a:t>при успех</a:t>
            </a:r>
            <a:endParaRPr lang="en-US" sz="1000">
              <a:solidFill>
                <a:srgbClr val="1F2937"/>
              </a:solidFill>
              <a:latin typeface="Segoe UI" panose="020B0502040204020203" pitchFamily="34" charset="0"/>
            </a:endParaRP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1291B8ED-F1D8-5CE6-CA11-50C33ED8BF43}"/>
              </a:ext>
            </a:extLst>
          </p:cNvPr>
          <p:cNvSpPr/>
          <p:nvPr/>
        </p:nvSpPr>
        <p:spPr>
          <a:xfrm>
            <a:off x="4572000" y="1905000"/>
            <a:ext cx="3048000" cy="2844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38D5DF9-C13D-DFC1-5E42-C0AFCD5A8DCB}"/>
              </a:ext>
            </a:extLst>
          </p:cNvPr>
          <p:cNvSpPr/>
          <p:nvPr/>
        </p:nvSpPr>
        <p:spPr>
          <a:xfrm>
            <a:off x="4572000" y="1905000"/>
            <a:ext cx="3048000" cy="76200"/>
          </a:xfrm>
          <a:prstGeom prst="rect">
            <a:avLst/>
          </a:prstGeom>
          <a:solidFill>
            <a:srgbClr val="D33333"/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FC9AE79-D575-B14F-EF16-1453C1E450D6}"/>
              </a:ext>
            </a:extLst>
          </p:cNvPr>
          <p:cNvSpPr txBox="1"/>
          <p:nvPr/>
        </p:nvSpPr>
        <p:spPr>
          <a:xfrm>
            <a:off x="4749800" y="2463800"/>
            <a:ext cx="2692400" cy="615553"/>
          </a:xfrm>
          <a:prstGeom prst="rect">
            <a:avLst/>
          </a:prstGeom>
          <a:noFill/>
          <a:ln w="1397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3970">
                <a:solidFill>
                  <a:schemeClr val="tx1"/>
                </a:solidFill>
              </a14:hiddenLine>
            </a:ext>
          </a:extLst>
        </p:spPr>
        <p:txBody>
          <a:bodyPr vert="horz" wrap="square" lIns="0" tIns="0" rIns="0" bIns="0" rtlCol="0">
            <a:spAutoFit/>
          </a:bodyPr>
          <a:lstStyle/>
          <a:p>
            <a:r>
              <a:rPr lang="ru-RU" sz="1000">
                <a:solidFill>
                  <a:srgbClr val="1F2937"/>
                </a:solidFill>
                <a:latin typeface="Segoe UI" panose="020B0502040204020203" pitchFamily="34" charset="0"/>
              </a:rPr>
              <a:t>Разширена валидация</a:t>
            </a:r>
          </a:p>
          <a:p>
            <a:r>
              <a:rPr lang="en-US" sz="1000">
                <a:solidFill>
                  <a:srgbClr val="1F2937"/>
                </a:solidFill>
                <a:latin typeface="Segoe UI" panose="020B0502040204020203" pitchFamily="34" charset="0"/>
              </a:rPr>
              <a:t>Unit tests + coverage</a:t>
            </a:r>
          </a:p>
          <a:p>
            <a:r>
              <a:rPr lang="en-US" sz="1000">
                <a:solidFill>
                  <a:srgbClr val="1F2937"/>
                </a:solidFill>
                <a:latin typeface="Segoe UI" panose="020B0502040204020203" pitchFamily="34" charset="0"/>
              </a:rPr>
              <a:t>SonarQube API/Web</a:t>
            </a:r>
          </a:p>
          <a:p>
            <a:r>
              <a:rPr lang="en-US" sz="1000">
                <a:solidFill>
                  <a:srgbClr val="1F2937"/>
                </a:solidFill>
                <a:latin typeface="Segoe UI" panose="020B0502040204020203" pitchFamily="34" charset="0"/>
              </a:rPr>
              <a:t>Nexus artifacts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5EB6D60D-9F7B-4680-6BA9-7E115AFFB9D1}"/>
              </a:ext>
            </a:extLst>
          </p:cNvPr>
          <p:cNvSpPr/>
          <p:nvPr/>
        </p:nvSpPr>
        <p:spPr>
          <a:xfrm>
            <a:off x="8229600" y="1905000"/>
            <a:ext cx="3048000" cy="2844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6382EC2-C0D4-76E0-E9B1-90A2EB51FCD9}"/>
              </a:ext>
            </a:extLst>
          </p:cNvPr>
          <p:cNvSpPr/>
          <p:nvPr/>
        </p:nvSpPr>
        <p:spPr>
          <a:xfrm>
            <a:off x="8229600" y="1905000"/>
            <a:ext cx="3048000" cy="76200"/>
          </a:xfrm>
          <a:prstGeom prst="rect">
            <a:avLst/>
          </a:prstGeom>
          <a:solidFill>
            <a:srgbClr val="D33333"/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1F3A524-C5CA-B2C9-528E-E0ECA0E3C93E}"/>
              </a:ext>
            </a:extLst>
          </p:cNvPr>
          <p:cNvSpPr txBox="1"/>
          <p:nvPr/>
        </p:nvSpPr>
        <p:spPr>
          <a:xfrm>
            <a:off x="8407400" y="2463800"/>
            <a:ext cx="2692400" cy="615553"/>
          </a:xfrm>
          <a:prstGeom prst="rect">
            <a:avLst/>
          </a:prstGeom>
          <a:noFill/>
          <a:ln w="1397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3970">
                <a:solidFill>
                  <a:schemeClr val="tx1"/>
                </a:solidFill>
              </a14:hiddenLine>
            </a:ext>
          </a:extLst>
        </p:spPr>
        <p:txBody>
          <a:bodyPr vert="horz" wrap="square" lIns="0" tIns="0" rIns="0" bIns="0" rtlCol="0">
            <a:spAutoFit/>
          </a:bodyPr>
          <a:lstStyle/>
          <a:p>
            <a:r>
              <a:rPr lang="en-US" sz="1000">
                <a:solidFill>
                  <a:srgbClr val="1F2937"/>
                </a:solidFill>
                <a:latin typeface="Segoe UI" panose="020B0502040204020203" pitchFamily="34" charset="0"/>
              </a:rPr>
              <a:t>Ръчно стартиране</a:t>
            </a:r>
          </a:p>
          <a:p>
            <a:r>
              <a:rPr lang="en-US" sz="1000">
                <a:solidFill>
                  <a:srgbClr val="1F2937"/>
                </a:solidFill>
                <a:latin typeface="Segoe UI" panose="020B0502040204020203" pitchFamily="34" charset="0"/>
              </a:rPr>
              <a:t>Docker build + push</a:t>
            </a:r>
          </a:p>
          <a:p>
            <a:r>
              <a:rPr lang="en-US" sz="1000">
                <a:solidFill>
                  <a:srgbClr val="1F2937"/>
                </a:solidFill>
                <a:latin typeface="Segoe UI" panose="020B0502040204020203" pitchFamily="34" charset="0"/>
              </a:rPr>
              <a:t>Docker Compose deployment</a:t>
            </a:r>
          </a:p>
          <a:p>
            <a:r>
              <a:rPr lang="en-US" sz="1000">
                <a:solidFill>
                  <a:srgbClr val="1F2937"/>
                </a:solidFill>
                <a:latin typeface="Segoe UI" panose="020B0502040204020203" pitchFamily="34" charset="0"/>
              </a:rPr>
              <a:t>Smoke tests</a:t>
            </a: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C533C2B3-8891-AFF0-D7FF-54D72966753C}"/>
              </a:ext>
            </a:extLst>
          </p:cNvPr>
          <p:cNvCxnSpPr/>
          <p:nvPr/>
        </p:nvCxnSpPr>
        <p:spPr>
          <a:xfrm>
            <a:off x="3962400" y="3327400"/>
            <a:ext cx="609600" cy="0"/>
          </a:xfrm>
          <a:prstGeom prst="line">
            <a:avLst/>
          </a:prstGeom>
          <a:ln w="15875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88FBA51B-64AC-537F-4E39-81A9D6895BF1}"/>
              </a:ext>
            </a:extLst>
          </p:cNvPr>
          <p:cNvCxnSpPr/>
          <p:nvPr/>
        </p:nvCxnSpPr>
        <p:spPr>
          <a:xfrm>
            <a:off x="7620000" y="3327400"/>
            <a:ext cx="609600" cy="0"/>
          </a:xfrm>
          <a:prstGeom prst="line">
            <a:avLst/>
          </a:prstGeom>
          <a:ln w="15875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ectangle 22">
            <a:extLst>
              <a:ext uri="{FF2B5EF4-FFF2-40B4-BE49-F238E27FC236}">
                <a16:creationId xmlns:a16="http://schemas.microsoft.com/office/drawing/2014/main" id="{B70856D0-9E75-532A-3138-1C81A783A9CE}"/>
              </a:ext>
            </a:extLst>
          </p:cNvPr>
          <p:cNvSpPr/>
          <p:nvPr/>
        </p:nvSpPr>
        <p:spPr>
          <a:xfrm>
            <a:off x="0" y="0"/>
            <a:ext cx="12192000" cy="101600"/>
          </a:xfrm>
          <a:prstGeom prst="rect">
            <a:avLst/>
          </a:prstGeom>
          <a:solidFill>
            <a:srgbClr val="D33333"/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2A4119A3-F9F6-8B93-C914-122CACA11DF0}"/>
              </a:ext>
            </a:extLst>
          </p:cNvPr>
          <p:cNvSpPr/>
          <p:nvPr/>
        </p:nvSpPr>
        <p:spPr>
          <a:xfrm>
            <a:off x="9906000" y="279400"/>
            <a:ext cx="1600200" cy="381000"/>
          </a:xfrm>
          <a:prstGeom prst="roundRect">
            <a:avLst/>
          </a:prstGeom>
          <a:solidFill>
            <a:srgbClr val="374151"/>
          </a:solidFill>
          <a:ln>
            <a:solidFill>
              <a:srgbClr val="4B556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406318F-029F-0306-FE3E-4A54BB3A4CF6}"/>
              </a:ext>
            </a:extLst>
          </p:cNvPr>
          <p:cNvSpPr txBox="1"/>
          <p:nvPr/>
        </p:nvSpPr>
        <p:spPr>
          <a:xfrm>
            <a:off x="558800" y="6477000"/>
            <a:ext cx="9652000" cy="215444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CBD5E1"/>
                </a:solidFill>
              </a14:hiddenLine>
            </a:ext>
          </a:extLst>
        </p:spPr>
        <p:txBody>
          <a:bodyPr vert="horz" rtlCol="0">
            <a:spAutoFit/>
          </a:bodyPr>
          <a:lstStyle/>
          <a:p>
            <a:r>
              <a:rPr lang="ru-RU" sz="800">
                <a:solidFill>
                  <a:srgbClr val="64748B"/>
                </a:solidFill>
                <a:latin typeface="Segoe UI" panose="020B0502040204020203" pitchFamily="34" charset="0"/>
              </a:rPr>
              <a:t>Среди и </a:t>
            </a:r>
            <a:r>
              <a:rPr lang="en-US" sz="800">
                <a:solidFill>
                  <a:srgbClr val="64748B"/>
                </a:solidFill>
                <a:latin typeface="Segoe UI" panose="020B0502040204020203" pitchFamily="34" charset="0"/>
              </a:rPr>
              <a:t>branch </a:t>
            </a:r>
            <a:r>
              <a:rPr lang="ru-RU" sz="800">
                <a:solidFill>
                  <a:srgbClr val="64748B"/>
                </a:solidFill>
                <a:latin typeface="Segoe UI" panose="020B0502040204020203" pitchFamily="34" charset="0"/>
              </a:rPr>
              <a:t>стратегия</a:t>
            </a:r>
            <a:endParaRPr lang="en-US" sz="800">
              <a:solidFill>
                <a:srgbClr val="64748B"/>
              </a:solidFill>
              <a:latin typeface="Segoe UI" panose="020B0502040204020203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5899176-FBD9-404C-F838-5E865581D830}"/>
              </a:ext>
            </a:extLst>
          </p:cNvPr>
          <p:cNvSpPr txBox="1"/>
          <p:nvPr/>
        </p:nvSpPr>
        <p:spPr>
          <a:xfrm>
            <a:off x="1092200" y="2108200"/>
            <a:ext cx="2692400" cy="2308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500" b="1">
                <a:solidFill>
                  <a:srgbClr val="1F2937"/>
                </a:solidFill>
                <a:latin typeface="Segoe UI" panose="020B0502040204020203" pitchFamily="34" charset="0"/>
              </a:rPr>
              <a:t>dev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DEBBC54-609D-6427-D26E-845CFB6895BF}"/>
              </a:ext>
            </a:extLst>
          </p:cNvPr>
          <p:cNvSpPr txBox="1"/>
          <p:nvPr/>
        </p:nvSpPr>
        <p:spPr>
          <a:xfrm>
            <a:off x="8407400" y="2108200"/>
            <a:ext cx="2692400" cy="2308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500" b="1">
                <a:solidFill>
                  <a:srgbClr val="1F2937"/>
                </a:solidFill>
                <a:latin typeface="Segoe UI" panose="020B0502040204020203" pitchFamily="34" charset="0"/>
              </a:rPr>
              <a:t>prod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7F51C898-DABC-9FC1-B7B0-26A1ACCD3756}"/>
              </a:ext>
            </a:extLst>
          </p:cNvPr>
          <p:cNvSpPr txBox="1"/>
          <p:nvPr/>
        </p:nvSpPr>
        <p:spPr>
          <a:xfrm>
            <a:off x="10109200" y="368300"/>
            <a:ext cx="1193800" cy="22313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850" b="1">
                <a:solidFill>
                  <a:srgbClr val="FFFFFF"/>
                </a:solidFill>
                <a:latin typeface="Segoe UI" panose="020B0502040204020203" pitchFamily="34" charset="0"/>
              </a:rPr>
              <a:t>Jenkins CI/CD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6498502-599E-505B-FDB5-2BF7F1139837}"/>
              </a:ext>
            </a:extLst>
          </p:cNvPr>
          <p:cNvSpPr txBox="1"/>
          <p:nvPr/>
        </p:nvSpPr>
        <p:spPr>
          <a:xfrm>
            <a:off x="4749800" y="2108200"/>
            <a:ext cx="2692400" cy="2308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500" b="1">
                <a:solidFill>
                  <a:srgbClr val="1F2937"/>
                </a:solidFill>
                <a:latin typeface="Segoe UI" panose="020B0502040204020203" pitchFamily="34" charset="0"/>
              </a:rPr>
              <a:t>test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C18FA82-3EB3-4301-B265-A4C27CA734E4}"/>
              </a:ext>
            </a:extLst>
          </p:cNvPr>
          <p:cNvSpPr txBox="1"/>
          <p:nvPr/>
        </p:nvSpPr>
        <p:spPr>
          <a:xfrm>
            <a:off x="558800" y="457200"/>
            <a:ext cx="10414000" cy="44627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ru-RU" sz="2900" b="1">
                <a:solidFill>
                  <a:srgbClr val="FFFFFF"/>
                </a:solidFill>
                <a:latin typeface="Segoe UI" panose="020B0502040204020203" pitchFamily="34" charset="0"/>
              </a:rPr>
              <a:t>Dev, Test и Prod среда</a:t>
            </a:r>
            <a:endParaRPr lang="en-US" sz="2900" b="1">
              <a:solidFill>
                <a:srgbClr val="FFFFFF"/>
              </a:solidFill>
              <a:latin typeface="Segoe UI" panose="020B0502040204020203" pitchFamily="34" charset="0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9DBAD0F-A77D-B8CF-63B6-9FFE86EAAFF4}"/>
              </a:ext>
            </a:extLst>
          </p:cNvPr>
          <p:cNvSpPr txBox="1"/>
          <p:nvPr/>
        </p:nvSpPr>
        <p:spPr>
          <a:xfrm>
            <a:off x="2133600" y="5207000"/>
            <a:ext cx="7874000" cy="230832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CBD5E1"/>
                </a:solidFill>
              </a14:hiddenLine>
            </a:ext>
          </a:extLst>
        </p:spPr>
        <p:txBody>
          <a:bodyPr vert="horz" wrap="square" lIns="0" tIns="0" rIns="0" bIns="0" rtlCol="0">
            <a:spAutoFit/>
          </a:bodyPr>
          <a:lstStyle/>
          <a:p>
            <a:r>
              <a:rPr lang="ru-RU" sz="1500" b="1">
                <a:solidFill>
                  <a:srgbClr val="1F2937"/>
                </a:solidFill>
                <a:latin typeface="Segoe UI" panose="020B0502040204020203" pitchFamily="34" charset="0"/>
              </a:rPr>
              <a:t>prod остава ръчен контролен етап, защото там се извършва реалното внедряване.</a:t>
            </a:r>
            <a:endParaRPr lang="en-US" sz="1500" b="1">
              <a:solidFill>
                <a:srgbClr val="1F2937"/>
              </a:solidFill>
              <a:latin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5991305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Rectangle 46">
            <a:extLst>
              <a:ext uri="{FF2B5EF4-FFF2-40B4-BE49-F238E27FC236}">
                <a16:creationId xmlns:a16="http://schemas.microsoft.com/office/drawing/2014/main" id="{9CFA3EE3-AF1F-C6D5-5AEC-363D122AD27C}"/>
              </a:ext>
            </a:extLst>
          </p:cNvPr>
          <p:cNvSpPr/>
          <p:nvPr/>
        </p:nvSpPr>
        <p:spPr>
          <a:xfrm>
            <a:off x="0" y="0"/>
            <a:ext cx="12192000" cy="1117600"/>
          </a:xfrm>
          <a:prstGeom prst="rect">
            <a:avLst/>
          </a:prstGeom>
          <a:solidFill>
            <a:srgbClr val="1F2937"/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D97A77F-12D6-D306-6577-A43B50CE3B8E}"/>
              </a:ext>
            </a:extLst>
          </p:cNvPr>
          <p:cNvSpPr/>
          <p:nvPr/>
        </p:nvSpPr>
        <p:spPr>
          <a:xfrm>
            <a:off x="0" y="0"/>
            <a:ext cx="12192000" cy="127000"/>
          </a:xfrm>
          <a:prstGeom prst="rect">
            <a:avLst/>
          </a:prstGeom>
          <a:solidFill>
            <a:srgbClr val="D33333"/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123E18D-BF2A-F8A8-CD9B-80C132EC6A97}"/>
              </a:ext>
            </a:extLst>
          </p:cNvPr>
          <p:cNvSpPr txBox="1"/>
          <p:nvPr/>
        </p:nvSpPr>
        <p:spPr>
          <a:xfrm>
            <a:off x="11303000" y="6451600"/>
            <a:ext cx="508000" cy="215444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CBD5E1"/>
                </a:solidFill>
              </a14:hiddenLine>
            </a:ext>
          </a:extLst>
        </p:spPr>
        <p:txBody>
          <a:bodyPr vert="horz" rtlCol="0">
            <a:spAutoFit/>
          </a:bodyPr>
          <a:lstStyle/>
          <a:p>
            <a:pPr algn="ctr"/>
            <a:r>
              <a:rPr lang="en-US" sz="800">
                <a:solidFill>
                  <a:srgbClr val="64748B"/>
                </a:solidFill>
                <a:latin typeface="Segoe UI" panose="020B0502040204020203" pitchFamily="34" charset="0"/>
              </a:rPr>
              <a:t>6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FFD2E46-8F04-BE60-3DAB-6790C980E3D9}"/>
              </a:ext>
            </a:extLst>
          </p:cNvPr>
          <p:cNvSpPr txBox="1"/>
          <p:nvPr/>
        </p:nvSpPr>
        <p:spPr>
          <a:xfrm>
            <a:off x="584200" y="1117600"/>
            <a:ext cx="9906000" cy="184666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CBD5E1"/>
                </a:solidFill>
              </a14:hiddenLine>
            </a:ext>
          </a:extLst>
        </p:spPr>
        <p:txBody>
          <a:bodyPr vert="horz" wrap="square" lIns="0" tIns="0" rIns="0" bIns="0" rtlCol="0">
            <a:spAutoFit/>
          </a:bodyPr>
          <a:lstStyle/>
          <a:p>
            <a:r>
              <a:rPr lang="ru-RU" sz="1200" b="1">
                <a:solidFill>
                  <a:srgbClr val="64748B"/>
                </a:solidFill>
                <a:latin typeface="Segoe UI" panose="020B0502040204020203" pitchFamily="34" charset="0"/>
              </a:rPr>
              <a:t>Всеки stage има ясна отговорност и връща измерим резултат.</a:t>
            </a:r>
            <a:endParaRPr lang="en-US" sz="1200" b="1">
              <a:solidFill>
                <a:srgbClr val="64748B"/>
              </a:solidFill>
              <a:latin typeface="Segoe UI" panose="020B0502040204020203" pitchFamily="34" charset="0"/>
            </a:endParaRP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C6B6E2B9-FB51-1EE4-84DB-72FE12C3B4A4}"/>
              </a:ext>
            </a:extLst>
          </p:cNvPr>
          <p:cNvSpPr/>
          <p:nvPr/>
        </p:nvSpPr>
        <p:spPr>
          <a:xfrm>
            <a:off x="685800" y="1905000"/>
            <a:ext cx="1041400" cy="1041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FABA576-42F1-0566-E801-8D03668C31F2}"/>
              </a:ext>
            </a:extLst>
          </p:cNvPr>
          <p:cNvSpPr/>
          <p:nvPr/>
        </p:nvSpPr>
        <p:spPr>
          <a:xfrm>
            <a:off x="685800" y="1905000"/>
            <a:ext cx="1041400" cy="76200"/>
          </a:xfrm>
          <a:prstGeom prst="rect">
            <a:avLst/>
          </a:prstGeom>
          <a:solidFill>
            <a:srgbClr val="D33333"/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EAD0CE12-A1E1-4D41-0558-443340980655}"/>
              </a:ext>
            </a:extLst>
          </p:cNvPr>
          <p:cNvCxnSpPr/>
          <p:nvPr/>
        </p:nvCxnSpPr>
        <p:spPr>
          <a:xfrm>
            <a:off x="1727200" y="2425700"/>
            <a:ext cx="101600" cy="0"/>
          </a:xfrm>
          <a:prstGeom prst="line">
            <a:avLst/>
          </a:prstGeom>
          <a:ln w="15875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1CB6ECDC-6C8F-A3C0-97CD-AD193F3C2E15}"/>
              </a:ext>
            </a:extLst>
          </p:cNvPr>
          <p:cNvSpPr/>
          <p:nvPr/>
        </p:nvSpPr>
        <p:spPr>
          <a:xfrm>
            <a:off x="1828800" y="1905000"/>
            <a:ext cx="1041400" cy="1041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9B0078B-B38F-D945-FE59-325A9DE4D84D}"/>
              </a:ext>
            </a:extLst>
          </p:cNvPr>
          <p:cNvSpPr/>
          <p:nvPr/>
        </p:nvSpPr>
        <p:spPr>
          <a:xfrm>
            <a:off x="1828800" y="1905000"/>
            <a:ext cx="1041400" cy="76200"/>
          </a:xfrm>
          <a:prstGeom prst="rect">
            <a:avLst/>
          </a:prstGeom>
          <a:solidFill>
            <a:srgbClr val="D33333"/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414E5E8D-5FC5-1D17-C793-AE7C3BF23C03}"/>
              </a:ext>
            </a:extLst>
          </p:cNvPr>
          <p:cNvCxnSpPr/>
          <p:nvPr/>
        </p:nvCxnSpPr>
        <p:spPr>
          <a:xfrm>
            <a:off x="2870200" y="2425700"/>
            <a:ext cx="101600" cy="0"/>
          </a:xfrm>
          <a:prstGeom prst="line">
            <a:avLst/>
          </a:prstGeom>
          <a:ln w="15875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3FF94894-07E4-F70B-B617-4EC3965184A0}"/>
              </a:ext>
            </a:extLst>
          </p:cNvPr>
          <p:cNvSpPr/>
          <p:nvPr/>
        </p:nvSpPr>
        <p:spPr>
          <a:xfrm>
            <a:off x="2971800" y="1905000"/>
            <a:ext cx="1041400" cy="1041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9F4558E3-3F7D-BB4D-65F1-820063E69808}"/>
              </a:ext>
            </a:extLst>
          </p:cNvPr>
          <p:cNvSpPr/>
          <p:nvPr/>
        </p:nvSpPr>
        <p:spPr>
          <a:xfrm>
            <a:off x="2971800" y="1905000"/>
            <a:ext cx="1041400" cy="76200"/>
          </a:xfrm>
          <a:prstGeom prst="rect">
            <a:avLst/>
          </a:prstGeom>
          <a:solidFill>
            <a:srgbClr val="D33333"/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7084C02C-9AFE-AF93-B9B5-6E419A9F9695}"/>
              </a:ext>
            </a:extLst>
          </p:cNvPr>
          <p:cNvCxnSpPr/>
          <p:nvPr/>
        </p:nvCxnSpPr>
        <p:spPr>
          <a:xfrm>
            <a:off x="4013200" y="2425700"/>
            <a:ext cx="101600" cy="0"/>
          </a:xfrm>
          <a:prstGeom prst="line">
            <a:avLst/>
          </a:prstGeom>
          <a:ln w="15875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B81846C6-DED1-D900-5F17-88A9067D09CA}"/>
              </a:ext>
            </a:extLst>
          </p:cNvPr>
          <p:cNvSpPr/>
          <p:nvPr/>
        </p:nvSpPr>
        <p:spPr>
          <a:xfrm>
            <a:off x="4114800" y="1905000"/>
            <a:ext cx="1041400" cy="1041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CA684BFD-2A7D-CF08-67B5-3245D6489C02}"/>
              </a:ext>
            </a:extLst>
          </p:cNvPr>
          <p:cNvSpPr/>
          <p:nvPr/>
        </p:nvSpPr>
        <p:spPr>
          <a:xfrm>
            <a:off x="4114800" y="1905000"/>
            <a:ext cx="1041400" cy="76200"/>
          </a:xfrm>
          <a:prstGeom prst="rect">
            <a:avLst/>
          </a:prstGeom>
          <a:solidFill>
            <a:srgbClr val="D33333"/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D59C5C7C-35B4-1A8C-633D-0E9B2C2E753F}"/>
              </a:ext>
            </a:extLst>
          </p:cNvPr>
          <p:cNvCxnSpPr/>
          <p:nvPr/>
        </p:nvCxnSpPr>
        <p:spPr>
          <a:xfrm>
            <a:off x="5156200" y="2425700"/>
            <a:ext cx="101600" cy="0"/>
          </a:xfrm>
          <a:prstGeom prst="line">
            <a:avLst/>
          </a:prstGeom>
          <a:ln w="15875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0781F1A9-E3E8-94A5-C233-D06EF07CAB00}"/>
              </a:ext>
            </a:extLst>
          </p:cNvPr>
          <p:cNvSpPr/>
          <p:nvPr/>
        </p:nvSpPr>
        <p:spPr>
          <a:xfrm>
            <a:off x="5257800" y="1905000"/>
            <a:ext cx="1041400" cy="1041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BF71F4A9-2503-69DE-DF45-2D0C0A0B81C6}"/>
              </a:ext>
            </a:extLst>
          </p:cNvPr>
          <p:cNvSpPr/>
          <p:nvPr/>
        </p:nvSpPr>
        <p:spPr>
          <a:xfrm>
            <a:off x="5257800" y="1905000"/>
            <a:ext cx="1041400" cy="76200"/>
          </a:xfrm>
          <a:prstGeom prst="rect">
            <a:avLst/>
          </a:prstGeom>
          <a:solidFill>
            <a:srgbClr val="D33333"/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3B08C4FD-69ED-5A7E-D8B5-CEF1CDC624FD}"/>
              </a:ext>
            </a:extLst>
          </p:cNvPr>
          <p:cNvCxnSpPr/>
          <p:nvPr/>
        </p:nvCxnSpPr>
        <p:spPr>
          <a:xfrm>
            <a:off x="6299200" y="2425700"/>
            <a:ext cx="101600" cy="0"/>
          </a:xfrm>
          <a:prstGeom prst="line">
            <a:avLst/>
          </a:prstGeom>
          <a:ln w="15875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B36ADA52-D1F7-F95F-C65B-12BD2418281F}"/>
              </a:ext>
            </a:extLst>
          </p:cNvPr>
          <p:cNvSpPr/>
          <p:nvPr/>
        </p:nvSpPr>
        <p:spPr>
          <a:xfrm>
            <a:off x="6400800" y="1905000"/>
            <a:ext cx="1041400" cy="1041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F9663D0E-FFBF-C6A9-79CE-94BC1FC78965}"/>
              </a:ext>
            </a:extLst>
          </p:cNvPr>
          <p:cNvSpPr/>
          <p:nvPr/>
        </p:nvSpPr>
        <p:spPr>
          <a:xfrm>
            <a:off x="6400800" y="1905000"/>
            <a:ext cx="1041400" cy="76200"/>
          </a:xfrm>
          <a:prstGeom prst="rect">
            <a:avLst/>
          </a:prstGeom>
          <a:solidFill>
            <a:srgbClr val="D33333"/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79496154-B297-ADBF-B6A2-E42480D77794}"/>
              </a:ext>
            </a:extLst>
          </p:cNvPr>
          <p:cNvCxnSpPr/>
          <p:nvPr/>
        </p:nvCxnSpPr>
        <p:spPr>
          <a:xfrm>
            <a:off x="7442200" y="2425700"/>
            <a:ext cx="101600" cy="0"/>
          </a:xfrm>
          <a:prstGeom prst="line">
            <a:avLst/>
          </a:prstGeom>
          <a:ln w="15875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5A578C18-1860-4C61-3194-D7CE6423BE7C}"/>
              </a:ext>
            </a:extLst>
          </p:cNvPr>
          <p:cNvSpPr/>
          <p:nvPr/>
        </p:nvSpPr>
        <p:spPr>
          <a:xfrm>
            <a:off x="7543800" y="1905000"/>
            <a:ext cx="1041400" cy="1041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DA052E28-97FB-6CC4-6C7E-55C121B7F8AC}"/>
              </a:ext>
            </a:extLst>
          </p:cNvPr>
          <p:cNvSpPr/>
          <p:nvPr/>
        </p:nvSpPr>
        <p:spPr>
          <a:xfrm>
            <a:off x="7543800" y="1905000"/>
            <a:ext cx="1041400" cy="76200"/>
          </a:xfrm>
          <a:prstGeom prst="rect">
            <a:avLst/>
          </a:prstGeom>
          <a:solidFill>
            <a:srgbClr val="D33333"/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0C799F42-4EBC-B821-7166-A877F70A70A6}"/>
              </a:ext>
            </a:extLst>
          </p:cNvPr>
          <p:cNvCxnSpPr/>
          <p:nvPr/>
        </p:nvCxnSpPr>
        <p:spPr>
          <a:xfrm>
            <a:off x="8585200" y="2425700"/>
            <a:ext cx="101600" cy="0"/>
          </a:xfrm>
          <a:prstGeom prst="line">
            <a:avLst/>
          </a:prstGeom>
          <a:ln w="15875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ectangle: Rounded Corners 34">
            <a:extLst>
              <a:ext uri="{FF2B5EF4-FFF2-40B4-BE49-F238E27FC236}">
                <a16:creationId xmlns:a16="http://schemas.microsoft.com/office/drawing/2014/main" id="{2FC476B0-AFB9-4E05-EE49-2BDD1388DE9C}"/>
              </a:ext>
            </a:extLst>
          </p:cNvPr>
          <p:cNvSpPr/>
          <p:nvPr/>
        </p:nvSpPr>
        <p:spPr>
          <a:xfrm>
            <a:off x="8686800" y="1905000"/>
            <a:ext cx="1041400" cy="1041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249CB936-A05A-84F1-66B8-DFB02D7638BC}"/>
              </a:ext>
            </a:extLst>
          </p:cNvPr>
          <p:cNvSpPr/>
          <p:nvPr/>
        </p:nvSpPr>
        <p:spPr>
          <a:xfrm>
            <a:off x="8686800" y="1905000"/>
            <a:ext cx="1041400" cy="76200"/>
          </a:xfrm>
          <a:prstGeom prst="rect">
            <a:avLst/>
          </a:prstGeom>
          <a:solidFill>
            <a:srgbClr val="D33333"/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F199406E-86F2-A9C4-ED4F-0A84214B9C37}"/>
              </a:ext>
            </a:extLst>
          </p:cNvPr>
          <p:cNvCxnSpPr/>
          <p:nvPr/>
        </p:nvCxnSpPr>
        <p:spPr>
          <a:xfrm>
            <a:off x="9728200" y="2425700"/>
            <a:ext cx="101600" cy="0"/>
          </a:xfrm>
          <a:prstGeom prst="line">
            <a:avLst/>
          </a:prstGeom>
          <a:ln w="15875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Rectangle: Rounded Corners 38">
            <a:extLst>
              <a:ext uri="{FF2B5EF4-FFF2-40B4-BE49-F238E27FC236}">
                <a16:creationId xmlns:a16="http://schemas.microsoft.com/office/drawing/2014/main" id="{AC147E24-76DE-DD7E-8797-2F39DC5651EE}"/>
              </a:ext>
            </a:extLst>
          </p:cNvPr>
          <p:cNvSpPr/>
          <p:nvPr/>
        </p:nvSpPr>
        <p:spPr>
          <a:xfrm>
            <a:off x="9829800" y="1905000"/>
            <a:ext cx="1041400" cy="1041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7910B0D3-9AC5-9AC2-0520-C1B2F983A356}"/>
              </a:ext>
            </a:extLst>
          </p:cNvPr>
          <p:cNvSpPr/>
          <p:nvPr/>
        </p:nvSpPr>
        <p:spPr>
          <a:xfrm>
            <a:off x="9829800" y="1905000"/>
            <a:ext cx="1041400" cy="76200"/>
          </a:xfrm>
          <a:prstGeom prst="rect">
            <a:avLst/>
          </a:prstGeom>
          <a:solidFill>
            <a:srgbClr val="D33333"/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CDB34543-FEA7-9576-1FAD-46199EA2483D}"/>
              </a:ext>
            </a:extLst>
          </p:cNvPr>
          <p:cNvCxnSpPr/>
          <p:nvPr/>
        </p:nvCxnSpPr>
        <p:spPr>
          <a:xfrm>
            <a:off x="10871200" y="2425700"/>
            <a:ext cx="101600" cy="0"/>
          </a:xfrm>
          <a:prstGeom prst="line">
            <a:avLst/>
          </a:prstGeom>
          <a:ln w="15875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Rectangle: Rounded Corners 42">
            <a:extLst>
              <a:ext uri="{FF2B5EF4-FFF2-40B4-BE49-F238E27FC236}">
                <a16:creationId xmlns:a16="http://schemas.microsoft.com/office/drawing/2014/main" id="{3EBF5B44-6602-AC13-0F9E-FD6959417CC0}"/>
              </a:ext>
            </a:extLst>
          </p:cNvPr>
          <p:cNvSpPr/>
          <p:nvPr/>
        </p:nvSpPr>
        <p:spPr>
          <a:xfrm>
            <a:off x="10972800" y="1905000"/>
            <a:ext cx="1041400" cy="1041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197B667A-3075-674C-67E9-94AA58C74922}"/>
              </a:ext>
            </a:extLst>
          </p:cNvPr>
          <p:cNvSpPr/>
          <p:nvPr/>
        </p:nvSpPr>
        <p:spPr>
          <a:xfrm>
            <a:off x="10972800" y="1905000"/>
            <a:ext cx="1041400" cy="76200"/>
          </a:xfrm>
          <a:prstGeom prst="rect">
            <a:avLst/>
          </a:prstGeom>
          <a:solidFill>
            <a:srgbClr val="D33333"/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51F1B746-25CE-62D8-FF42-71D6191C982A}"/>
              </a:ext>
            </a:extLst>
          </p:cNvPr>
          <p:cNvSpPr txBox="1"/>
          <p:nvPr/>
        </p:nvSpPr>
        <p:spPr>
          <a:xfrm>
            <a:off x="1168400" y="3708400"/>
            <a:ext cx="9652000" cy="990015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>
              <a:spcAft>
                <a:spcPts val="800"/>
              </a:spcAft>
            </a:pPr>
            <a:r>
              <a:rPr lang="ru-RU" sz="1700">
                <a:solidFill>
                  <a:srgbClr val="1F2937"/>
                </a:solidFill>
                <a:latin typeface="Segoe UI" panose="020B0502040204020203" pitchFamily="34" charset="0"/>
              </a:rPr>
              <a:t>• Fail-fast поведение: при грешка следващите stage-ове не се изпълняват</a:t>
            </a:r>
          </a:p>
          <a:p>
            <a:pPr>
              <a:spcAft>
                <a:spcPts val="800"/>
              </a:spcAft>
            </a:pPr>
            <a:r>
              <a:rPr lang="ru-RU" sz="1700">
                <a:solidFill>
                  <a:srgbClr val="1F2937"/>
                </a:solidFill>
                <a:latin typeface="Segoe UI" panose="020B0502040204020203" pitchFamily="34" charset="0"/>
              </a:rPr>
              <a:t>• Логовете в Jenkins показват точно къде е възникнал проблемът</a:t>
            </a:r>
          </a:p>
          <a:p>
            <a:pPr>
              <a:spcAft>
                <a:spcPts val="800"/>
              </a:spcAft>
            </a:pPr>
            <a:r>
              <a:rPr lang="ru-RU" sz="1700">
                <a:solidFill>
                  <a:srgbClr val="1F2937"/>
                </a:solidFill>
                <a:latin typeface="Segoe UI" panose="020B0502040204020203" pitchFamily="34" charset="0"/>
              </a:rPr>
              <a:t>• BUILD_NUMBER се използва за проследяване на конкретна версия</a:t>
            </a:r>
            <a:endParaRPr lang="en-US" sz="1700">
              <a:solidFill>
                <a:srgbClr val="1F2937"/>
              </a:solidFill>
              <a:latin typeface="Segoe UI" panose="020B0502040204020203" pitchFamily="34" charset="0"/>
            </a:endParaRP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1C927536-EF6D-E18D-2F3B-9D2E574C7F5B}"/>
              </a:ext>
            </a:extLst>
          </p:cNvPr>
          <p:cNvSpPr/>
          <p:nvPr/>
        </p:nvSpPr>
        <p:spPr>
          <a:xfrm>
            <a:off x="0" y="0"/>
            <a:ext cx="12192000" cy="101600"/>
          </a:xfrm>
          <a:prstGeom prst="rect">
            <a:avLst/>
          </a:prstGeom>
          <a:solidFill>
            <a:srgbClr val="D33333"/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Rectangle: Rounded Corners 48">
            <a:extLst>
              <a:ext uri="{FF2B5EF4-FFF2-40B4-BE49-F238E27FC236}">
                <a16:creationId xmlns:a16="http://schemas.microsoft.com/office/drawing/2014/main" id="{E1EA4750-AA80-DA09-5615-35856BD8D091}"/>
              </a:ext>
            </a:extLst>
          </p:cNvPr>
          <p:cNvSpPr/>
          <p:nvPr/>
        </p:nvSpPr>
        <p:spPr>
          <a:xfrm>
            <a:off x="9906000" y="279400"/>
            <a:ext cx="1600200" cy="381000"/>
          </a:xfrm>
          <a:prstGeom prst="roundRect">
            <a:avLst/>
          </a:prstGeom>
          <a:solidFill>
            <a:srgbClr val="374151"/>
          </a:solidFill>
          <a:ln>
            <a:solidFill>
              <a:srgbClr val="4B556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Rectangle: Rounded Corners 50">
            <a:extLst>
              <a:ext uri="{FF2B5EF4-FFF2-40B4-BE49-F238E27FC236}">
                <a16:creationId xmlns:a16="http://schemas.microsoft.com/office/drawing/2014/main" id="{472238BD-CB16-7F7B-106B-9C1549F845F3}"/>
              </a:ext>
            </a:extLst>
          </p:cNvPr>
          <p:cNvSpPr/>
          <p:nvPr/>
        </p:nvSpPr>
        <p:spPr>
          <a:xfrm>
            <a:off x="1524000" y="5562600"/>
            <a:ext cx="1422400" cy="355600"/>
          </a:xfrm>
          <a:prstGeom prst="roundRect">
            <a:avLst/>
          </a:prstGeom>
          <a:solidFill>
            <a:srgbClr val="33507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Rectangle: Rounded Corners 52">
            <a:extLst>
              <a:ext uri="{FF2B5EF4-FFF2-40B4-BE49-F238E27FC236}">
                <a16:creationId xmlns:a16="http://schemas.microsoft.com/office/drawing/2014/main" id="{9BDC6479-2953-6E86-C05E-2D072B2E7D82}"/>
              </a:ext>
            </a:extLst>
          </p:cNvPr>
          <p:cNvSpPr/>
          <p:nvPr/>
        </p:nvSpPr>
        <p:spPr>
          <a:xfrm>
            <a:off x="3302000" y="5562600"/>
            <a:ext cx="1422400" cy="355600"/>
          </a:xfrm>
          <a:prstGeom prst="roundRect">
            <a:avLst/>
          </a:prstGeom>
          <a:solidFill>
            <a:srgbClr val="2DA44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Rectangle: Rounded Corners 54">
            <a:extLst>
              <a:ext uri="{FF2B5EF4-FFF2-40B4-BE49-F238E27FC236}">
                <a16:creationId xmlns:a16="http://schemas.microsoft.com/office/drawing/2014/main" id="{349D460F-F6D2-FFF4-5772-9C1F9F4353C1}"/>
              </a:ext>
            </a:extLst>
          </p:cNvPr>
          <p:cNvSpPr/>
          <p:nvPr/>
        </p:nvSpPr>
        <p:spPr>
          <a:xfrm>
            <a:off x="5080000" y="5562600"/>
            <a:ext cx="1422400" cy="355600"/>
          </a:xfrm>
          <a:prstGeom prst="roundRect">
            <a:avLst/>
          </a:prstGeom>
          <a:solidFill>
            <a:srgbClr val="2DA44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Rectangle: Rounded Corners 56">
            <a:extLst>
              <a:ext uri="{FF2B5EF4-FFF2-40B4-BE49-F238E27FC236}">
                <a16:creationId xmlns:a16="http://schemas.microsoft.com/office/drawing/2014/main" id="{A903D41F-3C48-E137-A224-190BC80D3809}"/>
              </a:ext>
            </a:extLst>
          </p:cNvPr>
          <p:cNvSpPr/>
          <p:nvPr/>
        </p:nvSpPr>
        <p:spPr>
          <a:xfrm>
            <a:off x="6858000" y="5562600"/>
            <a:ext cx="1422400" cy="355600"/>
          </a:xfrm>
          <a:prstGeom prst="roundRect">
            <a:avLst/>
          </a:prstGeom>
          <a:solidFill>
            <a:srgbClr val="B4741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" name="Rectangle: Rounded Corners 58">
            <a:extLst>
              <a:ext uri="{FF2B5EF4-FFF2-40B4-BE49-F238E27FC236}">
                <a16:creationId xmlns:a16="http://schemas.microsoft.com/office/drawing/2014/main" id="{DE347FB9-A579-D76F-A840-4CCBDC5B5036}"/>
              </a:ext>
            </a:extLst>
          </p:cNvPr>
          <p:cNvSpPr/>
          <p:nvPr/>
        </p:nvSpPr>
        <p:spPr>
          <a:xfrm>
            <a:off x="8636000" y="5562600"/>
            <a:ext cx="1422400" cy="355600"/>
          </a:xfrm>
          <a:prstGeom prst="roundRect">
            <a:avLst/>
          </a:prstGeom>
          <a:solidFill>
            <a:srgbClr val="2563E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3345F8B-BB12-16B3-FB74-B6C5FEEA8832}"/>
              </a:ext>
            </a:extLst>
          </p:cNvPr>
          <p:cNvSpPr txBox="1"/>
          <p:nvPr/>
        </p:nvSpPr>
        <p:spPr>
          <a:xfrm>
            <a:off x="558800" y="6477000"/>
            <a:ext cx="9652000" cy="215444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CBD5E1"/>
                </a:solidFill>
              </a14:hiddenLine>
            </a:ext>
          </a:extLst>
        </p:spPr>
        <p:txBody>
          <a:bodyPr vert="horz" rtlCol="0">
            <a:spAutoFit/>
          </a:bodyPr>
          <a:lstStyle/>
          <a:p>
            <a:r>
              <a:rPr lang="en-US" sz="800">
                <a:solidFill>
                  <a:srgbClr val="64748B"/>
                </a:solidFill>
                <a:latin typeface="Segoe UI" panose="020B0502040204020203" pitchFamily="34" charset="0"/>
              </a:rPr>
              <a:t>Jenkins Pipeline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F5764E9-E1A6-1A37-5C91-0BFE6B6B931F}"/>
              </a:ext>
            </a:extLst>
          </p:cNvPr>
          <p:cNvSpPr txBox="1"/>
          <p:nvPr/>
        </p:nvSpPr>
        <p:spPr>
          <a:xfrm>
            <a:off x="879231" y="2108200"/>
            <a:ext cx="654538" cy="184666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algn="ctr"/>
            <a:r>
              <a:rPr lang="en-US" sz="1200" b="1">
                <a:solidFill>
                  <a:srgbClr val="1F2937"/>
                </a:solidFill>
                <a:latin typeface="Segoe UI Semibold" panose="020B0702040204020203" pitchFamily="34" charset="0"/>
              </a:rPr>
              <a:t>Checkout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9BB8127-DCB5-5BBE-EDDB-6BDFF3E54067}"/>
              </a:ext>
            </a:extLst>
          </p:cNvPr>
          <p:cNvSpPr txBox="1"/>
          <p:nvPr/>
        </p:nvSpPr>
        <p:spPr>
          <a:xfrm>
            <a:off x="3314566" y="2108200"/>
            <a:ext cx="355867" cy="184666"/>
          </a:xfrm>
          <a:prstGeom prst="rect">
            <a:avLst/>
          </a:prstGeom>
          <a:noFill/>
          <a:ln w="1397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3970">
                <a:solidFill>
                  <a:schemeClr val="tx1"/>
                </a:solidFill>
              </a14:hiddenLine>
            </a:ext>
          </a:extLst>
        </p:spPr>
        <p:txBody>
          <a:bodyPr vert="horz" wrap="none" lIns="0" tIns="0" rIns="0" bIns="0" rtlCol="0">
            <a:spAutoFit/>
          </a:bodyPr>
          <a:lstStyle/>
          <a:p>
            <a:pPr algn="ctr"/>
            <a:r>
              <a:rPr lang="en-US" sz="1200" b="1">
                <a:solidFill>
                  <a:srgbClr val="1F2937"/>
                </a:solidFill>
                <a:latin typeface="Segoe UI Semibold" panose="020B0702040204020203" pitchFamily="34" charset="0"/>
              </a:rPr>
              <a:t>Build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F4C33846-7341-9523-2E79-8E95D8D8EDEC}"/>
              </a:ext>
            </a:extLst>
          </p:cNvPr>
          <p:cNvSpPr txBox="1"/>
          <p:nvPr/>
        </p:nvSpPr>
        <p:spPr>
          <a:xfrm>
            <a:off x="5538851" y="2108200"/>
            <a:ext cx="479298" cy="184666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algn="ctr"/>
            <a:r>
              <a:rPr lang="en-US" sz="1200" b="1">
                <a:solidFill>
                  <a:srgbClr val="1F2937"/>
                </a:solidFill>
                <a:latin typeface="Segoe UI Semibold" panose="020B0702040204020203" pitchFamily="34" charset="0"/>
              </a:rPr>
              <a:t>SQ API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9FBDF151-769B-2121-8238-22623A31E463}"/>
              </a:ext>
            </a:extLst>
          </p:cNvPr>
          <p:cNvSpPr txBox="1"/>
          <p:nvPr/>
        </p:nvSpPr>
        <p:spPr>
          <a:xfrm>
            <a:off x="7848094" y="2108200"/>
            <a:ext cx="432811" cy="184666"/>
          </a:xfrm>
          <a:prstGeom prst="rect">
            <a:avLst/>
          </a:prstGeom>
          <a:noFill/>
          <a:ln w="1397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3970">
                <a:solidFill>
                  <a:schemeClr val="tx1"/>
                </a:solidFill>
              </a14:hiddenLine>
            </a:ext>
          </a:extLst>
        </p:spPr>
        <p:txBody>
          <a:bodyPr vert="horz" wrap="none" lIns="0" tIns="0" rIns="0" bIns="0" rtlCol="0">
            <a:spAutoFit/>
          </a:bodyPr>
          <a:lstStyle/>
          <a:p>
            <a:pPr algn="ctr"/>
            <a:r>
              <a:rPr lang="en-US" sz="1200" b="1">
                <a:solidFill>
                  <a:srgbClr val="1F2937"/>
                </a:solidFill>
                <a:latin typeface="Segoe UI Semibold" panose="020B0702040204020203" pitchFamily="34" charset="0"/>
              </a:rPr>
              <a:t>Nexus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D0B4F6A0-C7CB-0536-CBF7-6BB035338DCC}"/>
              </a:ext>
            </a:extLst>
          </p:cNvPr>
          <p:cNvSpPr txBox="1"/>
          <p:nvPr/>
        </p:nvSpPr>
        <p:spPr>
          <a:xfrm>
            <a:off x="10102836" y="2108200"/>
            <a:ext cx="495327" cy="184666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algn="ctr"/>
            <a:r>
              <a:rPr lang="en-US" sz="1200" b="1">
                <a:solidFill>
                  <a:srgbClr val="1F2937"/>
                </a:solidFill>
                <a:latin typeface="Segoe UI Semibold" panose="020B0702040204020203" pitchFamily="34" charset="0"/>
              </a:rPr>
              <a:t>Deploy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E0B0F17B-60DB-5C3F-0268-57D31C52542D}"/>
              </a:ext>
            </a:extLst>
          </p:cNvPr>
          <p:cNvSpPr txBox="1"/>
          <p:nvPr/>
        </p:nvSpPr>
        <p:spPr>
          <a:xfrm>
            <a:off x="10109200" y="368300"/>
            <a:ext cx="1193800" cy="22313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850" b="1">
                <a:solidFill>
                  <a:srgbClr val="FFFFFF"/>
                </a:solidFill>
                <a:latin typeface="Segoe UI" panose="020B0502040204020203" pitchFamily="34" charset="0"/>
              </a:rPr>
              <a:t>Jenkins CI/CD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48C77641-874C-20EC-FC66-1D0072F3C4C7}"/>
              </a:ext>
            </a:extLst>
          </p:cNvPr>
          <p:cNvSpPr txBox="1"/>
          <p:nvPr/>
        </p:nvSpPr>
        <p:spPr>
          <a:xfrm>
            <a:off x="3302000" y="5651500"/>
            <a:ext cx="1422400" cy="22313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vert="horz" rtlCol="0">
            <a:spAutoFit/>
          </a:bodyPr>
          <a:lstStyle/>
          <a:p>
            <a:pPr algn="ctr"/>
            <a:r>
              <a:rPr lang="en-US" sz="850">
                <a:solidFill>
                  <a:srgbClr val="1F2937"/>
                </a:solidFill>
                <a:latin typeface="Segoe UI" panose="020B0502040204020203" pitchFamily="34" charset="0"/>
              </a:rPr>
              <a:t>test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BB58858B-91EA-5F31-26DF-5380ED73BC29}"/>
              </a:ext>
            </a:extLst>
          </p:cNvPr>
          <p:cNvSpPr txBox="1"/>
          <p:nvPr/>
        </p:nvSpPr>
        <p:spPr>
          <a:xfrm>
            <a:off x="6858000" y="5651500"/>
            <a:ext cx="1422400" cy="22313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vert="horz" rtlCol="0">
            <a:spAutoFit/>
          </a:bodyPr>
          <a:lstStyle/>
          <a:p>
            <a:pPr algn="ctr"/>
            <a:r>
              <a:rPr lang="en-US" sz="850">
                <a:solidFill>
                  <a:srgbClr val="1F2937"/>
                </a:solidFill>
                <a:latin typeface="Segoe UI" panose="020B0502040204020203" pitchFamily="34" charset="0"/>
              </a:rPr>
              <a:t>publish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81877B0-184E-9E61-C0B1-7048C036906A}"/>
              </a:ext>
            </a:extLst>
          </p:cNvPr>
          <p:cNvSpPr txBox="1"/>
          <p:nvPr/>
        </p:nvSpPr>
        <p:spPr>
          <a:xfrm>
            <a:off x="558800" y="457200"/>
            <a:ext cx="10414000" cy="44627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2900" b="1">
                <a:solidFill>
                  <a:srgbClr val="FFFFFF"/>
                </a:solidFill>
                <a:latin typeface="Segoe UI" panose="020B0502040204020203" pitchFamily="34" charset="0"/>
              </a:rPr>
              <a:t>Jenkins Pipeline </a:t>
            </a:r>
            <a:r>
              <a:rPr lang="ru-RU" sz="2900" b="1">
                <a:solidFill>
                  <a:srgbClr val="FFFFFF"/>
                </a:solidFill>
                <a:latin typeface="Segoe UI" panose="020B0502040204020203" pitchFamily="34" charset="0"/>
              </a:rPr>
              <a:t>структура</a:t>
            </a:r>
            <a:endParaRPr lang="en-US" sz="2900" b="1">
              <a:solidFill>
                <a:srgbClr val="FFFFFF"/>
              </a:solidFill>
              <a:latin typeface="Segoe UI" panose="020B0502040204020203" pitchFamily="34" charset="0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A20BDE19-DAD0-4CDB-3005-97494220D9EB}"/>
              </a:ext>
            </a:extLst>
          </p:cNvPr>
          <p:cNvSpPr txBox="1"/>
          <p:nvPr/>
        </p:nvSpPr>
        <p:spPr>
          <a:xfrm>
            <a:off x="4465838" y="2108200"/>
            <a:ext cx="339324" cy="184666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algn="ctr"/>
            <a:r>
              <a:rPr lang="en-US" sz="1200" b="1">
                <a:solidFill>
                  <a:srgbClr val="1F2937"/>
                </a:solidFill>
                <a:latin typeface="Segoe UI Semibold" panose="020B0702040204020203" pitchFamily="34" charset="0"/>
              </a:rPr>
              <a:t>Tests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C9BB9164-4B78-BAE0-A151-8C8C124F4E75}"/>
              </a:ext>
            </a:extLst>
          </p:cNvPr>
          <p:cNvSpPr txBox="1"/>
          <p:nvPr/>
        </p:nvSpPr>
        <p:spPr>
          <a:xfrm>
            <a:off x="8961984" y="2108200"/>
            <a:ext cx="491032" cy="184666"/>
          </a:xfrm>
          <a:prstGeom prst="rect">
            <a:avLst/>
          </a:prstGeom>
          <a:noFill/>
          <a:ln w="1397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3970">
                <a:solidFill>
                  <a:schemeClr val="tx1"/>
                </a:solidFill>
              </a14:hiddenLine>
            </a:ext>
          </a:extLst>
        </p:spPr>
        <p:txBody>
          <a:bodyPr vert="horz" wrap="none" lIns="0" tIns="0" rIns="0" bIns="0" rtlCol="0">
            <a:spAutoFit/>
          </a:bodyPr>
          <a:lstStyle/>
          <a:p>
            <a:pPr algn="ctr"/>
            <a:r>
              <a:rPr lang="en-US" sz="1200" b="1">
                <a:solidFill>
                  <a:srgbClr val="1F2937"/>
                </a:solidFill>
                <a:latin typeface="Segoe UI Semibold" panose="020B0702040204020203" pitchFamily="34" charset="0"/>
              </a:rPr>
              <a:t>Docker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3E1F1DE9-B8BB-2BEF-3CAB-4102B226E610}"/>
              </a:ext>
            </a:extLst>
          </p:cNvPr>
          <p:cNvSpPr txBox="1"/>
          <p:nvPr/>
        </p:nvSpPr>
        <p:spPr>
          <a:xfrm>
            <a:off x="1524000" y="5651500"/>
            <a:ext cx="1422400" cy="22313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vert="horz" rtlCol="0">
            <a:spAutoFit/>
          </a:bodyPr>
          <a:lstStyle/>
          <a:p>
            <a:pPr algn="ctr"/>
            <a:r>
              <a:rPr lang="en-US" sz="850">
                <a:solidFill>
                  <a:srgbClr val="1F2937"/>
                </a:solidFill>
                <a:latin typeface="Segoe UI" panose="020B0502040204020203" pitchFamily="34" charset="0"/>
              </a:rPr>
              <a:t>build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9D224F65-0CBA-7341-05C1-4B1FA1FA22B5}"/>
              </a:ext>
            </a:extLst>
          </p:cNvPr>
          <p:cNvSpPr txBox="1"/>
          <p:nvPr/>
        </p:nvSpPr>
        <p:spPr>
          <a:xfrm>
            <a:off x="8636000" y="5651500"/>
            <a:ext cx="1422400" cy="22313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vert="horz" rtlCol="0">
            <a:spAutoFit/>
          </a:bodyPr>
          <a:lstStyle/>
          <a:p>
            <a:pPr algn="ctr"/>
            <a:r>
              <a:rPr lang="en-US" sz="850">
                <a:solidFill>
                  <a:srgbClr val="1F2937"/>
                </a:solidFill>
                <a:latin typeface="Segoe UI" panose="020B0502040204020203" pitchFamily="34" charset="0"/>
              </a:rPr>
              <a:t>deploy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5B9D7443-4459-122C-F616-204705F2B8C7}"/>
              </a:ext>
            </a:extLst>
          </p:cNvPr>
          <p:cNvSpPr txBox="1"/>
          <p:nvPr/>
        </p:nvSpPr>
        <p:spPr>
          <a:xfrm>
            <a:off x="6640525" y="2108200"/>
            <a:ext cx="561949" cy="184666"/>
          </a:xfrm>
          <a:prstGeom prst="rect">
            <a:avLst/>
          </a:prstGeom>
          <a:noFill/>
          <a:ln w="1397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3970">
                <a:solidFill>
                  <a:schemeClr val="tx1"/>
                </a:solidFill>
              </a14:hiddenLine>
            </a:ext>
          </a:extLst>
        </p:spPr>
        <p:txBody>
          <a:bodyPr vert="horz" wrap="none" lIns="0" tIns="0" rIns="0" bIns="0" rtlCol="0">
            <a:spAutoFit/>
          </a:bodyPr>
          <a:lstStyle/>
          <a:p>
            <a:pPr algn="ctr"/>
            <a:r>
              <a:rPr lang="en-US" sz="1200" b="1">
                <a:solidFill>
                  <a:srgbClr val="1F2937"/>
                </a:solidFill>
                <a:latin typeface="Segoe UI Semibold" panose="020B0702040204020203" pitchFamily="34" charset="0"/>
              </a:rPr>
              <a:t>SQ Web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AF6CD6CA-822D-A0A3-2FDB-03D563F17DB1}"/>
              </a:ext>
            </a:extLst>
          </p:cNvPr>
          <p:cNvSpPr txBox="1"/>
          <p:nvPr/>
        </p:nvSpPr>
        <p:spPr>
          <a:xfrm>
            <a:off x="5080000" y="5651500"/>
            <a:ext cx="1422400" cy="22313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vert="horz" rtlCol="0">
            <a:spAutoFit/>
          </a:bodyPr>
          <a:lstStyle/>
          <a:p>
            <a:pPr algn="ctr"/>
            <a:r>
              <a:rPr lang="en-US" sz="850">
                <a:solidFill>
                  <a:srgbClr val="1F2937"/>
                </a:solidFill>
                <a:latin typeface="Segoe UI" panose="020B0502040204020203" pitchFamily="34" charset="0"/>
              </a:rPr>
              <a:t>scan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4F58A398-6509-74D9-FE77-026D860CCF52}"/>
              </a:ext>
            </a:extLst>
          </p:cNvPr>
          <p:cNvSpPr txBox="1"/>
          <p:nvPr/>
        </p:nvSpPr>
        <p:spPr>
          <a:xfrm>
            <a:off x="11258404" y="2108200"/>
            <a:ext cx="470192" cy="184666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algn="ctr"/>
            <a:r>
              <a:rPr lang="en-US" sz="1200" b="1">
                <a:solidFill>
                  <a:srgbClr val="1F2937"/>
                </a:solidFill>
                <a:latin typeface="Segoe UI Semibold" panose="020B0702040204020203" pitchFamily="34" charset="0"/>
              </a:rPr>
              <a:t>Smoke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E3A49F6-A289-E850-4447-6FCE59F315B1}"/>
              </a:ext>
            </a:extLst>
          </p:cNvPr>
          <p:cNvSpPr txBox="1"/>
          <p:nvPr/>
        </p:nvSpPr>
        <p:spPr>
          <a:xfrm>
            <a:off x="2189424" y="2108200"/>
            <a:ext cx="320151" cy="184666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algn="ctr"/>
            <a:r>
              <a:rPr lang="en-US" sz="1200" b="1">
                <a:solidFill>
                  <a:srgbClr val="1F2937"/>
                </a:solidFill>
                <a:latin typeface="Segoe UI Semibold" panose="020B0702040204020203" pitchFamily="34" charset="0"/>
              </a:rPr>
              <a:t>Sync</a:t>
            </a:r>
          </a:p>
        </p:txBody>
      </p:sp>
    </p:spTree>
    <p:extLst>
      <p:ext uri="{BB962C8B-B14F-4D97-AF65-F5344CB8AC3E}">
        <p14:creationId xmlns:p14="http://schemas.microsoft.com/office/powerpoint/2010/main" val="223892229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Rectangle 26">
            <a:extLst>
              <a:ext uri="{FF2B5EF4-FFF2-40B4-BE49-F238E27FC236}">
                <a16:creationId xmlns:a16="http://schemas.microsoft.com/office/drawing/2014/main" id="{99F0EB1F-D5E3-BDFC-FC9D-91D0CBEB34F7}"/>
              </a:ext>
            </a:extLst>
          </p:cNvPr>
          <p:cNvSpPr/>
          <p:nvPr/>
        </p:nvSpPr>
        <p:spPr>
          <a:xfrm>
            <a:off x="0" y="0"/>
            <a:ext cx="12192000" cy="1117600"/>
          </a:xfrm>
          <a:prstGeom prst="rect">
            <a:avLst/>
          </a:prstGeom>
          <a:solidFill>
            <a:srgbClr val="1F2937"/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43BD7E9-D74A-00CB-3550-7ACD318EADC9}"/>
              </a:ext>
            </a:extLst>
          </p:cNvPr>
          <p:cNvSpPr/>
          <p:nvPr/>
        </p:nvSpPr>
        <p:spPr>
          <a:xfrm>
            <a:off x="0" y="0"/>
            <a:ext cx="12192000" cy="127000"/>
          </a:xfrm>
          <a:prstGeom prst="rect">
            <a:avLst/>
          </a:prstGeom>
          <a:solidFill>
            <a:srgbClr val="D33333"/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2AE7A56-8DDF-E5EB-0D47-49831537F1CB}"/>
              </a:ext>
            </a:extLst>
          </p:cNvPr>
          <p:cNvSpPr txBox="1"/>
          <p:nvPr/>
        </p:nvSpPr>
        <p:spPr>
          <a:xfrm>
            <a:off x="11303000" y="6451600"/>
            <a:ext cx="508000" cy="215444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CBD5E1"/>
                </a:solidFill>
              </a14:hiddenLine>
            </a:ext>
          </a:extLst>
        </p:spPr>
        <p:txBody>
          <a:bodyPr vert="horz" rtlCol="0">
            <a:spAutoFit/>
          </a:bodyPr>
          <a:lstStyle/>
          <a:p>
            <a:pPr algn="ctr"/>
            <a:r>
              <a:rPr lang="en-US" sz="800">
                <a:solidFill>
                  <a:srgbClr val="64748B"/>
                </a:solidFill>
                <a:latin typeface="Segoe UI" panose="020B0502040204020203" pitchFamily="34" charset="0"/>
              </a:rPr>
              <a:t>7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DC68814-8424-5740-60CF-C9BEE14D5288}"/>
              </a:ext>
            </a:extLst>
          </p:cNvPr>
          <p:cNvSpPr txBox="1"/>
          <p:nvPr/>
        </p:nvSpPr>
        <p:spPr>
          <a:xfrm>
            <a:off x="584200" y="1117600"/>
            <a:ext cx="9906000" cy="184666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CBD5E1"/>
                </a:solidFill>
              </a14:hiddenLine>
            </a:ext>
          </a:extLst>
        </p:spPr>
        <p:txBody>
          <a:bodyPr vert="horz" wrap="square" lIns="0" tIns="0" rIns="0" bIns="0" rtlCol="0">
            <a:spAutoFit/>
          </a:bodyPr>
          <a:lstStyle/>
          <a:p>
            <a:r>
              <a:rPr lang="ru-RU" sz="1200" b="1">
                <a:solidFill>
                  <a:srgbClr val="64748B"/>
                </a:solidFill>
                <a:latin typeface="Segoe UI" panose="020B0502040204020203" pitchFamily="34" charset="0"/>
              </a:rPr>
              <a:t>Банковото приложение показва, че CI/CD процесът работи върху реалистична архитектура.</a:t>
            </a:r>
            <a:endParaRPr lang="en-US" sz="1200" b="1">
              <a:solidFill>
                <a:srgbClr val="64748B"/>
              </a:solidFill>
              <a:latin typeface="Segoe UI" panose="020B0502040204020203" pitchFamily="34" charset="0"/>
            </a:endParaRP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3BB2C422-4E3F-6CCB-DF27-5AC04B99CFB4}"/>
              </a:ext>
            </a:extLst>
          </p:cNvPr>
          <p:cNvSpPr/>
          <p:nvPr/>
        </p:nvSpPr>
        <p:spPr>
          <a:xfrm>
            <a:off x="1016000" y="1879600"/>
            <a:ext cx="2413000" cy="1397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F5F92D9-8D15-6633-3B15-547E6578E735}"/>
              </a:ext>
            </a:extLst>
          </p:cNvPr>
          <p:cNvSpPr/>
          <p:nvPr/>
        </p:nvSpPr>
        <p:spPr>
          <a:xfrm>
            <a:off x="1016000" y="1879600"/>
            <a:ext cx="2413000" cy="76200"/>
          </a:xfrm>
          <a:prstGeom prst="rect">
            <a:avLst/>
          </a:prstGeom>
          <a:solidFill>
            <a:srgbClr val="D33333"/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99DC530-EDFD-286B-BB7F-8DA6E44470B3}"/>
              </a:ext>
            </a:extLst>
          </p:cNvPr>
          <p:cNvSpPr txBox="1"/>
          <p:nvPr/>
        </p:nvSpPr>
        <p:spPr>
          <a:xfrm>
            <a:off x="1193800" y="2438400"/>
            <a:ext cx="2057400" cy="3077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ru-RU" sz="1000">
                <a:solidFill>
                  <a:srgbClr val="1F2937"/>
                </a:solidFill>
                <a:latin typeface="Segoe UI" panose="020B0502040204020203" pitchFamily="34" charset="0"/>
              </a:rPr>
              <a:t>Blazor Web клиент</a:t>
            </a:r>
          </a:p>
          <a:p>
            <a:r>
              <a:rPr lang="ru-RU" sz="1000">
                <a:solidFill>
                  <a:srgbClr val="1F2937"/>
                </a:solidFill>
                <a:latin typeface="Segoe UI" panose="020B0502040204020203" pitchFamily="34" charset="0"/>
              </a:rPr>
              <a:t>Работи през REST API</a:t>
            </a:r>
            <a:endParaRPr lang="en-US" sz="1000">
              <a:solidFill>
                <a:srgbClr val="1F2937"/>
              </a:solidFill>
              <a:latin typeface="Segoe UI" panose="020B0502040204020203" pitchFamily="34" charset="0"/>
            </a:endParaRP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8858710B-2E84-14A4-3697-BCE67948F94A}"/>
              </a:ext>
            </a:extLst>
          </p:cNvPr>
          <p:cNvSpPr/>
          <p:nvPr/>
        </p:nvSpPr>
        <p:spPr>
          <a:xfrm>
            <a:off x="1016000" y="3962400"/>
            <a:ext cx="2413000" cy="1397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13D7F11-A811-7ECC-2C07-616DE28921A1}"/>
              </a:ext>
            </a:extLst>
          </p:cNvPr>
          <p:cNvSpPr/>
          <p:nvPr/>
        </p:nvSpPr>
        <p:spPr>
          <a:xfrm>
            <a:off x="1016000" y="3962400"/>
            <a:ext cx="2413000" cy="76200"/>
          </a:xfrm>
          <a:prstGeom prst="rect">
            <a:avLst/>
          </a:prstGeom>
          <a:solidFill>
            <a:srgbClr val="D33333"/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316B7F3-5347-47B8-87DC-E3907930E979}"/>
              </a:ext>
            </a:extLst>
          </p:cNvPr>
          <p:cNvSpPr txBox="1"/>
          <p:nvPr/>
        </p:nvSpPr>
        <p:spPr>
          <a:xfrm>
            <a:off x="1193800" y="4521200"/>
            <a:ext cx="2057400" cy="3077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000">
                <a:solidFill>
                  <a:srgbClr val="1F2937"/>
                </a:solidFill>
                <a:latin typeface="Segoe UI" panose="020B0502040204020203" pitchFamily="34" charset="0"/>
              </a:rPr>
              <a:t>.NET MAUI Android</a:t>
            </a:r>
          </a:p>
          <a:p>
            <a:r>
              <a:rPr lang="en-US" sz="1000">
                <a:solidFill>
                  <a:srgbClr val="1F2937"/>
                </a:solidFill>
                <a:latin typeface="Segoe UI" panose="020B0502040204020203" pitchFamily="34" charset="0"/>
              </a:rPr>
              <a:t>APK </a:t>
            </a:r>
            <a:r>
              <a:rPr lang="ru-RU" sz="1000">
                <a:solidFill>
                  <a:srgbClr val="1F2937"/>
                </a:solidFill>
                <a:latin typeface="Segoe UI" panose="020B0502040204020203" pitchFamily="34" charset="0"/>
              </a:rPr>
              <a:t>артефакт в </a:t>
            </a:r>
            <a:r>
              <a:rPr lang="en-US" sz="1000">
                <a:solidFill>
                  <a:srgbClr val="1F2937"/>
                </a:solidFill>
                <a:latin typeface="Segoe UI" panose="020B0502040204020203" pitchFamily="34" charset="0"/>
              </a:rPr>
              <a:t>Nexus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AC84BB35-9721-82BE-07DE-9F90B0263DAC}"/>
              </a:ext>
            </a:extLst>
          </p:cNvPr>
          <p:cNvSpPr/>
          <p:nvPr/>
        </p:nvSpPr>
        <p:spPr>
          <a:xfrm>
            <a:off x="4902200" y="2768600"/>
            <a:ext cx="2667000" cy="1676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3668DEA-5101-4E15-2A59-2673BCDB3E28}"/>
              </a:ext>
            </a:extLst>
          </p:cNvPr>
          <p:cNvSpPr/>
          <p:nvPr/>
        </p:nvSpPr>
        <p:spPr>
          <a:xfrm>
            <a:off x="4902200" y="2768600"/>
            <a:ext cx="2667000" cy="76200"/>
          </a:xfrm>
          <a:prstGeom prst="rect">
            <a:avLst/>
          </a:prstGeom>
          <a:solidFill>
            <a:srgbClr val="D33333"/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EE3EEFB-C2CC-D019-F5A2-DB87A9656179}"/>
              </a:ext>
            </a:extLst>
          </p:cNvPr>
          <p:cNvSpPr txBox="1"/>
          <p:nvPr/>
        </p:nvSpPr>
        <p:spPr>
          <a:xfrm>
            <a:off x="5080000" y="3327400"/>
            <a:ext cx="2311400" cy="46166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000">
                <a:solidFill>
                  <a:srgbClr val="1F2937"/>
                </a:solidFill>
                <a:latin typeface="Segoe UI" panose="020B0502040204020203" pitchFamily="34" charset="0"/>
              </a:rPr>
              <a:t>ASP.NET Core Web API</a:t>
            </a:r>
          </a:p>
          <a:p>
            <a:r>
              <a:rPr lang="ru-RU" sz="1000">
                <a:solidFill>
                  <a:srgbClr val="1F2937"/>
                </a:solidFill>
                <a:latin typeface="Segoe UI" panose="020B0502040204020203" pitchFamily="34" charset="0"/>
              </a:rPr>
              <a:t>Бизнес логика</a:t>
            </a:r>
          </a:p>
          <a:p>
            <a:r>
              <a:rPr lang="en-US" sz="1000">
                <a:solidFill>
                  <a:srgbClr val="1F2937"/>
                </a:solidFill>
                <a:latin typeface="Segoe UI" panose="020B0502040204020203" pitchFamily="34" charset="0"/>
              </a:rPr>
              <a:t>JWT + EF Core</a:t>
            </a: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F276DB08-104D-57CD-F433-E7C3844146E2}"/>
              </a:ext>
            </a:extLst>
          </p:cNvPr>
          <p:cNvSpPr/>
          <p:nvPr/>
        </p:nvSpPr>
        <p:spPr>
          <a:xfrm>
            <a:off x="9017000" y="3022600"/>
            <a:ext cx="2159000" cy="1422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E238846D-4BC2-A53E-22B8-A98F4846279E}"/>
              </a:ext>
            </a:extLst>
          </p:cNvPr>
          <p:cNvSpPr/>
          <p:nvPr/>
        </p:nvSpPr>
        <p:spPr>
          <a:xfrm>
            <a:off x="9017000" y="3022600"/>
            <a:ext cx="2159000" cy="76200"/>
          </a:xfrm>
          <a:prstGeom prst="rect">
            <a:avLst/>
          </a:prstGeom>
          <a:solidFill>
            <a:srgbClr val="D33333"/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FECD415-CFB9-60F1-0CBA-A934E9CFE960}"/>
              </a:ext>
            </a:extLst>
          </p:cNvPr>
          <p:cNvSpPr txBox="1"/>
          <p:nvPr/>
        </p:nvSpPr>
        <p:spPr>
          <a:xfrm>
            <a:off x="9194800" y="3581400"/>
            <a:ext cx="1803400" cy="615553"/>
          </a:xfrm>
          <a:prstGeom prst="rect">
            <a:avLst/>
          </a:prstGeom>
          <a:noFill/>
          <a:ln w="1397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3970">
                <a:solidFill>
                  <a:schemeClr val="tx1"/>
                </a:solidFill>
              </a14:hiddenLine>
            </a:ext>
          </a:extLst>
        </p:spPr>
        <p:txBody>
          <a:bodyPr vert="horz" wrap="square" lIns="0" tIns="0" rIns="0" bIns="0" rtlCol="0">
            <a:spAutoFit/>
          </a:bodyPr>
          <a:lstStyle/>
          <a:p>
            <a:r>
              <a:rPr lang="ru-RU" sz="1000">
                <a:solidFill>
                  <a:srgbClr val="1F2937"/>
                </a:solidFill>
                <a:latin typeface="Segoe UI" panose="020B0502040204020203" pitchFamily="34" charset="0"/>
              </a:rPr>
              <a:t>Потребители</a:t>
            </a:r>
          </a:p>
          <a:p>
            <a:r>
              <a:rPr lang="ru-RU" sz="1000">
                <a:solidFill>
                  <a:srgbClr val="1F2937"/>
                </a:solidFill>
                <a:latin typeface="Segoe UI" panose="020B0502040204020203" pitchFamily="34" charset="0"/>
              </a:rPr>
              <a:t>Сметки</a:t>
            </a:r>
          </a:p>
          <a:p>
            <a:r>
              <a:rPr lang="ru-RU" sz="1000">
                <a:solidFill>
                  <a:srgbClr val="1F2937"/>
                </a:solidFill>
                <a:latin typeface="Segoe UI" panose="020B0502040204020203" pitchFamily="34" charset="0"/>
              </a:rPr>
              <a:t>Движения</a:t>
            </a:r>
          </a:p>
          <a:p>
            <a:r>
              <a:rPr lang="ru-RU" sz="1000">
                <a:solidFill>
                  <a:srgbClr val="1F2937"/>
                </a:solidFill>
                <a:latin typeface="Segoe UI" panose="020B0502040204020203" pitchFamily="34" charset="0"/>
              </a:rPr>
              <a:t>Трансфери</a:t>
            </a:r>
            <a:endParaRPr lang="en-US" sz="1000">
              <a:solidFill>
                <a:srgbClr val="1F2937"/>
              </a:solidFill>
              <a:latin typeface="Segoe UI" panose="020B0502040204020203" pitchFamily="34" charset="0"/>
            </a:endParaRPr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00CE407C-0DC7-03CD-477F-0423F369B193}"/>
              </a:ext>
            </a:extLst>
          </p:cNvPr>
          <p:cNvCxnSpPr/>
          <p:nvPr/>
        </p:nvCxnSpPr>
        <p:spPr>
          <a:xfrm>
            <a:off x="3429000" y="2578100"/>
            <a:ext cx="1473200" cy="749300"/>
          </a:xfrm>
          <a:prstGeom prst="line">
            <a:avLst/>
          </a:prstGeom>
          <a:ln w="15875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7E0ED8D3-5A0E-3E6B-35B8-2D20FA2BE226}"/>
              </a:ext>
            </a:extLst>
          </p:cNvPr>
          <p:cNvCxnSpPr/>
          <p:nvPr/>
        </p:nvCxnSpPr>
        <p:spPr>
          <a:xfrm flipV="1">
            <a:off x="3429000" y="3886200"/>
            <a:ext cx="1473200" cy="774700"/>
          </a:xfrm>
          <a:prstGeom prst="line">
            <a:avLst/>
          </a:prstGeom>
          <a:ln w="15875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8281AB50-83A8-D6E9-B0B4-1D30A989FACA}"/>
              </a:ext>
            </a:extLst>
          </p:cNvPr>
          <p:cNvCxnSpPr/>
          <p:nvPr/>
        </p:nvCxnSpPr>
        <p:spPr>
          <a:xfrm>
            <a:off x="7569200" y="3606800"/>
            <a:ext cx="1447800" cy="127000"/>
          </a:xfrm>
          <a:prstGeom prst="line">
            <a:avLst/>
          </a:prstGeom>
          <a:ln w="15875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ectangle 27">
            <a:extLst>
              <a:ext uri="{FF2B5EF4-FFF2-40B4-BE49-F238E27FC236}">
                <a16:creationId xmlns:a16="http://schemas.microsoft.com/office/drawing/2014/main" id="{62B5D286-711B-4080-FF07-94DA1479BC35}"/>
              </a:ext>
            </a:extLst>
          </p:cNvPr>
          <p:cNvSpPr/>
          <p:nvPr/>
        </p:nvSpPr>
        <p:spPr>
          <a:xfrm>
            <a:off x="0" y="0"/>
            <a:ext cx="12192000" cy="101600"/>
          </a:xfrm>
          <a:prstGeom prst="rect">
            <a:avLst/>
          </a:prstGeom>
          <a:solidFill>
            <a:srgbClr val="D33333"/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C4EB9A3C-985D-58D0-D847-4D12114AE2AE}"/>
              </a:ext>
            </a:extLst>
          </p:cNvPr>
          <p:cNvSpPr/>
          <p:nvPr/>
        </p:nvSpPr>
        <p:spPr>
          <a:xfrm>
            <a:off x="9906000" y="279400"/>
            <a:ext cx="1600200" cy="381000"/>
          </a:xfrm>
          <a:prstGeom prst="roundRect">
            <a:avLst/>
          </a:prstGeom>
          <a:solidFill>
            <a:srgbClr val="374151"/>
          </a:solidFill>
          <a:ln>
            <a:solidFill>
              <a:srgbClr val="4B556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FC93385-97C5-3D0E-69A1-54E151C52438}"/>
              </a:ext>
            </a:extLst>
          </p:cNvPr>
          <p:cNvSpPr txBox="1"/>
          <p:nvPr/>
        </p:nvSpPr>
        <p:spPr>
          <a:xfrm>
            <a:off x="558800" y="6477000"/>
            <a:ext cx="9652000" cy="215444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CBD5E1"/>
                </a:solidFill>
              </a14:hiddenLine>
            </a:ext>
          </a:extLst>
        </p:spPr>
        <p:txBody>
          <a:bodyPr vert="horz" rtlCol="0">
            <a:spAutoFit/>
          </a:bodyPr>
          <a:lstStyle/>
          <a:p>
            <a:r>
              <a:rPr lang="ru-RU" sz="800">
                <a:solidFill>
                  <a:srgbClr val="64748B"/>
                </a:solidFill>
                <a:latin typeface="Segoe UI" panose="020B0502040204020203" pitchFamily="34" charset="0"/>
              </a:rPr>
              <a:t>Демонстрационно приложение</a:t>
            </a:r>
            <a:endParaRPr lang="en-US" sz="800">
              <a:solidFill>
                <a:srgbClr val="64748B"/>
              </a:solidFill>
              <a:latin typeface="Segoe UI" panose="020B0502040204020203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771C45B-31FF-E937-77BB-7D885F516A6A}"/>
              </a:ext>
            </a:extLst>
          </p:cNvPr>
          <p:cNvSpPr txBox="1"/>
          <p:nvPr/>
        </p:nvSpPr>
        <p:spPr>
          <a:xfrm>
            <a:off x="1193800" y="2082800"/>
            <a:ext cx="2057400" cy="2308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500" b="1">
                <a:solidFill>
                  <a:srgbClr val="1F2937"/>
                </a:solidFill>
                <a:latin typeface="Segoe UI" panose="020B0502040204020203" pitchFamily="34" charset="0"/>
              </a:rPr>
              <a:t>Bank Web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E6391D2-B4A6-E51E-5DFB-B95CF7F13534}"/>
              </a:ext>
            </a:extLst>
          </p:cNvPr>
          <p:cNvSpPr txBox="1"/>
          <p:nvPr/>
        </p:nvSpPr>
        <p:spPr>
          <a:xfrm>
            <a:off x="5080000" y="2971800"/>
            <a:ext cx="2311400" cy="2308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500" b="1">
                <a:solidFill>
                  <a:srgbClr val="1F2937"/>
                </a:solidFill>
                <a:latin typeface="Segoe UI" panose="020B0502040204020203" pitchFamily="34" charset="0"/>
              </a:rPr>
              <a:t>Bank API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05C60F4F-9BCE-7592-B4D7-65EF496CC87A}"/>
              </a:ext>
            </a:extLst>
          </p:cNvPr>
          <p:cNvSpPr txBox="1"/>
          <p:nvPr/>
        </p:nvSpPr>
        <p:spPr>
          <a:xfrm>
            <a:off x="1498600" y="5778500"/>
            <a:ext cx="9144000" cy="461665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CBD5E1"/>
                </a:solidFill>
              </a14:hiddenLine>
            </a:ext>
          </a:extLst>
        </p:spPr>
        <p:txBody>
          <a:bodyPr vert="horz" wrap="square" lIns="0" tIns="0" rIns="0" bIns="0" rtlCol="0">
            <a:spAutoFit/>
          </a:bodyPr>
          <a:lstStyle/>
          <a:p>
            <a:r>
              <a:rPr lang="ru-RU" sz="1500" b="1">
                <a:solidFill>
                  <a:srgbClr val="1F2937"/>
                </a:solidFill>
                <a:latin typeface="Segoe UI" panose="020B0502040204020203" pitchFamily="34" charset="0"/>
              </a:rPr>
              <a:t>Front-End клиентите не съдържат критична бизнес логика; те визуализират данни от общ REST API.</a:t>
            </a:r>
            <a:endParaRPr lang="en-US" sz="1500" b="1">
              <a:solidFill>
                <a:srgbClr val="1F2937"/>
              </a:solidFill>
              <a:latin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48AEB9B-315F-465E-17CC-A2BF17E08B44}"/>
              </a:ext>
            </a:extLst>
          </p:cNvPr>
          <p:cNvSpPr txBox="1"/>
          <p:nvPr/>
        </p:nvSpPr>
        <p:spPr>
          <a:xfrm>
            <a:off x="558800" y="457200"/>
            <a:ext cx="10414000" cy="44627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ru-RU" sz="2900" b="1">
                <a:solidFill>
                  <a:srgbClr val="FFFFFF"/>
                </a:solidFill>
                <a:latin typeface="Segoe UI" panose="020B0502040204020203" pitchFamily="34" charset="0"/>
              </a:rPr>
              <a:t>Многокомпонентна система за валидиране</a:t>
            </a:r>
            <a:endParaRPr lang="en-US" sz="2900" b="1">
              <a:solidFill>
                <a:srgbClr val="FFFFFF"/>
              </a:solidFill>
              <a:latin typeface="Segoe UI" panose="020B0502040204020203" pitchFamily="34" charset="0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209FFC2-A55F-8416-6F14-6A2B5E2FBCC7}"/>
              </a:ext>
            </a:extLst>
          </p:cNvPr>
          <p:cNvSpPr txBox="1"/>
          <p:nvPr/>
        </p:nvSpPr>
        <p:spPr>
          <a:xfrm>
            <a:off x="9194800" y="3225800"/>
            <a:ext cx="1803400" cy="2308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500" b="1">
                <a:solidFill>
                  <a:srgbClr val="1F2937"/>
                </a:solidFill>
                <a:latin typeface="Segoe UI" panose="020B0502040204020203" pitchFamily="34" charset="0"/>
              </a:rPr>
              <a:t>SQL Server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9CAE801-4DE3-528B-2C9A-8EF5B0104CA9}"/>
              </a:ext>
            </a:extLst>
          </p:cNvPr>
          <p:cNvSpPr txBox="1"/>
          <p:nvPr/>
        </p:nvSpPr>
        <p:spPr>
          <a:xfrm>
            <a:off x="1193800" y="4165600"/>
            <a:ext cx="2057400" cy="2308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500" b="1">
                <a:solidFill>
                  <a:srgbClr val="1F2937"/>
                </a:solidFill>
                <a:latin typeface="Segoe UI" panose="020B0502040204020203" pitchFamily="34" charset="0"/>
              </a:rPr>
              <a:t>BankAPP Mobile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43A9BE25-735B-FE54-2D88-1612420EC33D}"/>
              </a:ext>
            </a:extLst>
          </p:cNvPr>
          <p:cNvSpPr txBox="1"/>
          <p:nvPr/>
        </p:nvSpPr>
        <p:spPr>
          <a:xfrm>
            <a:off x="10109200" y="368300"/>
            <a:ext cx="1193800" cy="22313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850" b="1">
                <a:solidFill>
                  <a:srgbClr val="FFFFFF"/>
                </a:solidFill>
                <a:latin typeface="Segoe UI" panose="020B0502040204020203" pitchFamily="34" charset="0"/>
              </a:rPr>
              <a:t>Jenkins CI/CD</a:t>
            </a:r>
          </a:p>
        </p:txBody>
      </p:sp>
    </p:spTree>
    <p:extLst>
      <p:ext uri="{BB962C8B-B14F-4D97-AF65-F5344CB8AC3E}">
        <p14:creationId xmlns:p14="http://schemas.microsoft.com/office/powerpoint/2010/main" val="268510208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A6DF912-0488-5E2E-5B23-86B76A2F0D27}"/>
              </a:ext>
            </a:extLst>
          </p:cNvPr>
          <p:cNvSpPr/>
          <p:nvPr/>
        </p:nvSpPr>
        <p:spPr>
          <a:xfrm>
            <a:off x="0" y="0"/>
            <a:ext cx="12192000" cy="1117600"/>
          </a:xfrm>
          <a:prstGeom prst="rect">
            <a:avLst/>
          </a:prstGeom>
          <a:solidFill>
            <a:srgbClr val="1F2937"/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816D551-9590-4717-5FB0-FEE803DE7DE8}"/>
              </a:ext>
            </a:extLst>
          </p:cNvPr>
          <p:cNvSpPr/>
          <p:nvPr/>
        </p:nvSpPr>
        <p:spPr>
          <a:xfrm>
            <a:off x="0" y="0"/>
            <a:ext cx="12192000" cy="127000"/>
          </a:xfrm>
          <a:prstGeom prst="rect">
            <a:avLst/>
          </a:prstGeom>
          <a:solidFill>
            <a:srgbClr val="D33333"/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9079CED-C5B7-3DB7-0A42-8F28DC665360}"/>
              </a:ext>
            </a:extLst>
          </p:cNvPr>
          <p:cNvSpPr txBox="1"/>
          <p:nvPr/>
        </p:nvSpPr>
        <p:spPr>
          <a:xfrm>
            <a:off x="11303000" y="6451600"/>
            <a:ext cx="508000" cy="215444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CBD5E1"/>
                </a:solidFill>
              </a14:hiddenLine>
            </a:ext>
          </a:extLst>
        </p:spPr>
        <p:txBody>
          <a:bodyPr vert="horz" rtlCol="0">
            <a:spAutoFit/>
          </a:bodyPr>
          <a:lstStyle/>
          <a:p>
            <a:pPr algn="ctr"/>
            <a:r>
              <a:rPr lang="en-US" sz="800">
                <a:solidFill>
                  <a:srgbClr val="64748B"/>
                </a:solidFill>
                <a:latin typeface="Segoe UI" panose="020B0502040204020203" pitchFamily="34" charset="0"/>
              </a:rPr>
              <a:t>8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77CE086-655A-7477-C851-D3C46565CC09}"/>
              </a:ext>
            </a:extLst>
          </p:cNvPr>
          <p:cNvSpPr txBox="1"/>
          <p:nvPr/>
        </p:nvSpPr>
        <p:spPr>
          <a:xfrm>
            <a:off x="584200" y="1117600"/>
            <a:ext cx="9906000" cy="184666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CBD5E1"/>
                </a:solidFill>
              </a14:hiddenLine>
            </a:ext>
          </a:extLst>
        </p:spPr>
        <p:txBody>
          <a:bodyPr vert="horz" wrap="square" lIns="0" tIns="0" rIns="0" bIns="0" rtlCol="0">
            <a:spAutoFit/>
          </a:bodyPr>
          <a:lstStyle/>
          <a:p>
            <a:r>
              <a:rPr lang="ru-RU" sz="1200" b="1">
                <a:solidFill>
                  <a:srgbClr val="64748B"/>
                </a:solidFill>
                <a:latin typeface="Segoe UI" panose="020B0502040204020203" pitchFamily="34" charset="0"/>
              </a:rPr>
              <a:t>Тук се вмъква видеото към защитата.</a:t>
            </a:r>
            <a:endParaRPr lang="en-US" sz="1200" b="1">
              <a:solidFill>
                <a:srgbClr val="64748B"/>
              </a:solidFill>
              <a:latin typeface="Segoe UI" panose="020B0502040204020203" pitchFamily="34" charset="0"/>
            </a:endParaRP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905F4129-A7A3-858C-F383-D8B801BDE4F0}"/>
              </a:ext>
            </a:extLst>
          </p:cNvPr>
          <p:cNvSpPr/>
          <p:nvPr/>
        </p:nvSpPr>
        <p:spPr>
          <a:xfrm>
            <a:off x="1651000" y="1905000"/>
            <a:ext cx="8890000" cy="330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14A771F-3E7D-4363-7C03-3FF55BA8D8E7}"/>
              </a:ext>
            </a:extLst>
          </p:cNvPr>
          <p:cNvSpPr txBox="1"/>
          <p:nvPr/>
        </p:nvSpPr>
        <p:spPr>
          <a:xfrm>
            <a:off x="2387600" y="5410200"/>
            <a:ext cx="7493000" cy="461665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CBD5E1"/>
                </a:solidFill>
              </a14:hiddenLine>
            </a:ext>
          </a:extLst>
        </p:spPr>
        <p:txBody>
          <a:bodyPr vert="horz" wrap="square" lIns="0" tIns="0" rIns="0" bIns="0" rtlCol="0">
            <a:spAutoFit/>
          </a:bodyPr>
          <a:lstStyle/>
          <a:p>
            <a:r>
              <a:rPr lang="ru-RU" sz="1500">
                <a:solidFill>
                  <a:srgbClr val="1F2937"/>
                </a:solidFill>
                <a:latin typeface="Segoe UI" panose="020B0502040204020203" pitchFamily="34" charset="0"/>
              </a:rPr>
              <a:t>Предложен ред: </a:t>
            </a:r>
            <a:r>
              <a:rPr lang="en-US" sz="1500">
                <a:solidFill>
                  <a:srgbClr val="1F2937"/>
                </a:solidFill>
                <a:latin typeface="Segoe UI" panose="020B0502040204020203" pitchFamily="34" charset="0"/>
              </a:rPr>
              <a:t>commit </a:t>
            </a:r>
            <a:r>
              <a:rPr lang="ru-RU" sz="1500">
                <a:solidFill>
                  <a:srgbClr val="1F2937"/>
                </a:solidFill>
                <a:latin typeface="Segoe UI" panose="020B0502040204020203" pitchFamily="34" charset="0"/>
              </a:rPr>
              <a:t>към </a:t>
            </a:r>
            <a:r>
              <a:rPr lang="en-US" sz="1500">
                <a:solidFill>
                  <a:srgbClr val="1F2937"/>
                </a:solidFill>
                <a:latin typeface="Segoe UI" panose="020B0502040204020203" pitchFamily="34" charset="0"/>
              </a:rPr>
              <a:t>dev → </a:t>
            </a:r>
            <a:r>
              <a:rPr lang="ru-RU" sz="1500">
                <a:solidFill>
                  <a:srgbClr val="1F2937"/>
                </a:solidFill>
                <a:latin typeface="Segoe UI" panose="020B0502040204020203" pitchFamily="34" charset="0"/>
              </a:rPr>
              <a:t>автоматичен </a:t>
            </a:r>
            <a:r>
              <a:rPr lang="en-US" sz="1500">
                <a:solidFill>
                  <a:srgbClr val="1F2937"/>
                </a:solidFill>
                <a:latin typeface="Segoe UI" panose="020B0502040204020203" pitchFamily="34" charset="0"/>
              </a:rPr>
              <a:t>pipeline → test validation → production deploy → web/mobile screen.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6326214-8453-20B8-2960-72BD28E64996}"/>
              </a:ext>
            </a:extLst>
          </p:cNvPr>
          <p:cNvSpPr/>
          <p:nvPr/>
        </p:nvSpPr>
        <p:spPr>
          <a:xfrm>
            <a:off x="0" y="0"/>
            <a:ext cx="12192000" cy="101600"/>
          </a:xfrm>
          <a:prstGeom prst="rect">
            <a:avLst/>
          </a:prstGeom>
          <a:solidFill>
            <a:srgbClr val="D33333"/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41B3E24A-593E-6E8D-5723-F3F1ADFCDEC6}"/>
              </a:ext>
            </a:extLst>
          </p:cNvPr>
          <p:cNvSpPr/>
          <p:nvPr/>
        </p:nvSpPr>
        <p:spPr>
          <a:xfrm>
            <a:off x="9906000" y="279400"/>
            <a:ext cx="1600200" cy="381000"/>
          </a:xfrm>
          <a:prstGeom prst="roundRect">
            <a:avLst/>
          </a:prstGeom>
          <a:solidFill>
            <a:srgbClr val="374151"/>
          </a:solidFill>
          <a:ln>
            <a:solidFill>
              <a:srgbClr val="4B556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1E0A6EF-9FDC-4EE5-CFDC-59B4CD4A40D8}"/>
              </a:ext>
            </a:extLst>
          </p:cNvPr>
          <p:cNvSpPr txBox="1"/>
          <p:nvPr/>
        </p:nvSpPr>
        <p:spPr>
          <a:xfrm>
            <a:off x="558800" y="6477000"/>
            <a:ext cx="9652000" cy="215444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CBD5E1"/>
                </a:solidFill>
              </a14:hiddenLine>
            </a:ext>
          </a:extLst>
        </p:spPr>
        <p:txBody>
          <a:bodyPr vert="horz" rtlCol="0">
            <a:spAutoFit/>
          </a:bodyPr>
          <a:lstStyle/>
          <a:p>
            <a:r>
              <a:rPr lang="ru-RU" sz="800">
                <a:solidFill>
                  <a:srgbClr val="64748B"/>
                </a:solidFill>
                <a:latin typeface="Segoe UI" panose="020B0502040204020203" pitchFamily="34" charset="0"/>
              </a:rPr>
              <a:t>Видео демонстрация</a:t>
            </a:r>
            <a:endParaRPr lang="en-US" sz="800">
              <a:solidFill>
                <a:srgbClr val="64748B"/>
              </a:solidFill>
              <a:latin typeface="Segoe UI" panose="020B0502040204020203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0D78CD3-7CF1-C6EE-8EC2-EADFBAC0E69B}"/>
              </a:ext>
            </a:extLst>
          </p:cNvPr>
          <p:cNvSpPr txBox="1"/>
          <p:nvPr/>
        </p:nvSpPr>
        <p:spPr>
          <a:xfrm>
            <a:off x="4445000" y="3022600"/>
            <a:ext cx="3302000" cy="33855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2200" b="1">
                <a:solidFill>
                  <a:srgbClr val="1F2937"/>
                </a:solidFill>
                <a:latin typeface="Segoe UI" panose="020B0502040204020203" pitchFamily="34" charset="0"/>
              </a:rPr>
              <a:t>VIDEO PLACEHOLDER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D0F94F6-9091-A2FC-1CEB-006841AEB8D7}"/>
              </a:ext>
            </a:extLst>
          </p:cNvPr>
          <p:cNvSpPr txBox="1"/>
          <p:nvPr/>
        </p:nvSpPr>
        <p:spPr>
          <a:xfrm>
            <a:off x="558800" y="457200"/>
            <a:ext cx="10414000" cy="44627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ru-RU" sz="2900" b="1">
                <a:solidFill>
                  <a:srgbClr val="FFFFFF"/>
                </a:solidFill>
                <a:latin typeface="Segoe UI" panose="020B0502040204020203" pitchFamily="34" charset="0"/>
              </a:rPr>
              <a:t>Демонстрация</a:t>
            </a:r>
            <a:endParaRPr lang="en-US" sz="2900" b="1">
              <a:solidFill>
                <a:srgbClr val="FFFFFF"/>
              </a:solidFill>
              <a:latin typeface="Segoe UI" panose="020B0502040204020203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A4E6DC0-87A9-F004-7E38-A87479942226}"/>
              </a:ext>
            </a:extLst>
          </p:cNvPr>
          <p:cNvSpPr txBox="1"/>
          <p:nvPr/>
        </p:nvSpPr>
        <p:spPr>
          <a:xfrm>
            <a:off x="10109200" y="368300"/>
            <a:ext cx="1193800" cy="22313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850" b="1">
                <a:solidFill>
                  <a:srgbClr val="FFFFFF"/>
                </a:solidFill>
                <a:latin typeface="Segoe UI" panose="020B0502040204020203" pitchFamily="34" charset="0"/>
              </a:rPr>
              <a:t>Jenkins CI/CD</a:t>
            </a:r>
          </a:p>
        </p:txBody>
      </p:sp>
    </p:spTree>
    <p:extLst>
      <p:ext uri="{BB962C8B-B14F-4D97-AF65-F5344CB8AC3E}">
        <p14:creationId xmlns:p14="http://schemas.microsoft.com/office/powerpoint/2010/main" val="121384181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BF321F1F-75BA-5A8A-41A1-440DC28E6EF7}"/>
              </a:ext>
            </a:extLst>
          </p:cNvPr>
          <p:cNvSpPr/>
          <p:nvPr/>
        </p:nvSpPr>
        <p:spPr>
          <a:xfrm>
            <a:off x="0" y="0"/>
            <a:ext cx="12192000" cy="1117600"/>
          </a:xfrm>
          <a:prstGeom prst="rect">
            <a:avLst/>
          </a:prstGeom>
          <a:solidFill>
            <a:srgbClr val="1F2937"/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1837093-663B-982F-6BF8-2E844906EFE7}"/>
              </a:ext>
            </a:extLst>
          </p:cNvPr>
          <p:cNvSpPr/>
          <p:nvPr/>
        </p:nvSpPr>
        <p:spPr>
          <a:xfrm>
            <a:off x="0" y="0"/>
            <a:ext cx="12192000" cy="127000"/>
          </a:xfrm>
          <a:prstGeom prst="rect">
            <a:avLst/>
          </a:prstGeom>
          <a:solidFill>
            <a:srgbClr val="D33333"/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546A19C-E745-A0AE-9D6D-C513BF4B93E5}"/>
              </a:ext>
            </a:extLst>
          </p:cNvPr>
          <p:cNvSpPr txBox="1"/>
          <p:nvPr/>
        </p:nvSpPr>
        <p:spPr>
          <a:xfrm>
            <a:off x="11303000" y="6451600"/>
            <a:ext cx="508000" cy="215444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CBD5E1"/>
                </a:solidFill>
              </a14:hiddenLine>
            </a:ext>
          </a:extLst>
        </p:spPr>
        <p:txBody>
          <a:bodyPr vert="horz" rtlCol="0">
            <a:spAutoFit/>
          </a:bodyPr>
          <a:lstStyle/>
          <a:p>
            <a:pPr algn="ctr"/>
            <a:r>
              <a:rPr lang="en-US" sz="800">
                <a:solidFill>
                  <a:srgbClr val="64748B"/>
                </a:solidFill>
                <a:latin typeface="Segoe UI" panose="020B0502040204020203" pitchFamily="34" charset="0"/>
              </a:rPr>
              <a:t>9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C16E009-8D38-1692-691D-6014CE4FEE4B}"/>
              </a:ext>
            </a:extLst>
          </p:cNvPr>
          <p:cNvSpPr/>
          <p:nvPr/>
        </p:nvSpPr>
        <p:spPr>
          <a:xfrm>
            <a:off x="0" y="0"/>
            <a:ext cx="12192000" cy="101600"/>
          </a:xfrm>
          <a:prstGeom prst="rect">
            <a:avLst/>
          </a:prstGeom>
          <a:solidFill>
            <a:srgbClr val="D33333"/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E59ECE60-B312-9596-4778-5A90A73166F5}"/>
              </a:ext>
            </a:extLst>
          </p:cNvPr>
          <p:cNvSpPr/>
          <p:nvPr/>
        </p:nvSpPr>
        <p:spPr>
          <a:xfrm>
            <a:off x="9906000" y="279400"/>
            <a:ext cx="1600200" cy="381000"/>
          </a:xfrm>
          <a:prstGeom prst="roundRect">
            <a:avLst/>
          </a:prstGeom>
          <a:solidFill>
            <a:srgbClr val="374151"/>
          </a:solidFill>
          <a:ln>
            <a:solidFill>
              <a:srgbClr val="4B556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E8EF992-824A-F4E1-E0E4-7D9BEE96FCD1}"/>
              </a:ext>
            </a:extLst>
          </p:cNvPr>
          <p:cNvSpPr txBox="1"/>
          <p:nvPr/>
        </p:nvSpPr>
        <p:spPr>
          <a:xfrm>
            <a:off x="558800" y="6477000"/>
            <a:ext cx="9652000" cy="215444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CBD5E1"/>
                </a:solidFill>
              </a14:hiddenLine>
            </a:ext>
          </a:extLst>
        </p:spPr>
        <p:txBody>
          <a:bodyPr vert="horz" rtlCol="0">
            <a:spAutoFit/>
          </a:bodyPr>
          <a:lstStyle/>
          <a:p>
            <a:r>
              <a:rPr lang="ru-RU" sz="800">
                <a:solidFill>
                  <a:srgbClr val="64748B"/>
                </a:solidFill>
                <a:latin typeface="Segoe UI" panose="020B0502040204020203" pitchFamily="34" charset="0"/>
              </a:rPr>
              <a:t>Изводи</a:t>
            </a:r>
            <a:endParaRPr lang="en-US" sz="800">
              <a:solidFill>
                <a:srgbClr val="64748B"/>
              </a:solidFill>
              <a:latin typeface="Segoe UI" panose="020B0502040204020203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870180C-E67A-56F4-AE48-C9F8178FBDEB}"/>
              </a:ext>
            </a:extLst>
          </p:cNvPr>
          <p:cNvSpPr txBox="1"/>
          <p:nvPr/>
        </p:nvSpPr>
        <p:spPr>
          <a:xfrm>
            <a:off x="10109200" y="368300"/>
            <a:ext cx="1193800" cy="22313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850" b="1">
                <a:solidFill>
                  <a:srgbClr val="FFFFFF"/>
                </a:solidFill>
                <a:latin typeface="Segoe UI" panose="020B0502040204020203" pitchFamily="34" charset="0"/>
              </a:rPr>
              <a:t>Jenkins CI/CD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7FAF6BB-4F1B-72CD-1D4A-EFDF9347DAAB}"/>
              </a:ext>
            </a:extLst>
          </p:cNvPr>
          <p:cNvSpPr txBox="1"/>
          <p:nvPr/>
        </p:nvSpPr>
        <p:spPr>
          <a:xfrm>
            <a:off x="558800" y="457200"/>
            <a:ext cx="10414000" cy="44627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ru-RU" sz="2900" b="1" dirty="0">
                <a:solidFill>
                  <a:srgbClr val="FFFFFF"/>
                </a:solidFill>
                <a:latin typeface="Segoe UI" panose="020B0502040204020203" pitchFamily="34" charset="0"/>
              </a:rPr>
              <a:t>Бъдещо развитие</a:t>
            </a:r>
            <a:endParaRPr lang="en-US" sz="2900" b="1" dirty="0">
              <a:solidFill>
                <a:srgbClr val="FFFFFF"/>
              </a:solidFill>
              <a:latin typeface="Segoe UI" panose="020B0502040204020203" pitchFamily="34" charset="0"/>
            </a:endParaRP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65DACC8D-78E3-3BD3-AD8B-5A81207A4775}"/>
              </a:ext>
            </a:extLst>
          </p:cNvPr>
          <p:cNvSpPr/>
          <p:nvPr/>
        </p:nvSpPr>
        <p:spPr>
          <a:xfrm>
            <a:off x="1460500" y="2159000"/>
            <a:ext cx="9271000" cy="2921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AE437AF-42C9-11CB-BD56-8023355A0B5A}"/>
              </a:ext>
            </a:extLst>
          </p:cNvPr>
          <p:cNvSpPr/>
          <p:nvPr/>
        </p:nvSpPr>
        <p:spPr>
          <a:xfrm>
            <a:off x="1460500" y="2159000"/>
            <a:ext cx="9271000" cy="88900"/>
          </a:xfrm>
          <a:prstGeom prst="rect">
            <a:avLst/>
          </a:prstGeom>
          <a:solidFill>
            <a:srgbClr val="D3333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18E9327-E1A0-1BC6-636B-691B7DEAC472}"/>
              </a:ext>
            </a:extLst>
          </p:cNvPr>
          <p:cNvSpPr txBox="1"/>
          <p:nvPr/>
        </p:nvSpPr>
        <p:spPr>
          <a:xfrm>
            <a:off x="1841500" y="2514600"/>
            <a:ext cx="8636000" cy="3693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ru-RU">
                <a:solidFill>
                  <a:srgbClr val="1F2937"/>
                </a:solidFill>
                <a:latin typeface="Segoe UI Semibold" panose="020B0702040204020203" pitchFamily="34" charset="0"/>
              </a:rPr>
              <a:t>Следващи подобрения</a:t>
            </a:r>
            <a:endParaRPr lang="en-US">
              <a:solidFill>
                <a:srgbClr val="1F2937"/>
              </a:solidFill>
              <a:latin typeface="Segoe UI Semibold" panose="020B0702040204020203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B897E0E-06D9-4ACD-006D-3210C2D920A8}"/>
              </a:ext>
            </a:extLst>
          </p:cNvPr>
          <p:cNvSpPr txBox="1"/>
          <p:nvPr/>
        </p:nvSpPr>
        <p:spPr>
          <a:xfrm>
            <a:off x="1841500" y="3022600"/>
            <a:ext cx="8636000" cy="101566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500">
                <a:solidFill>
                  <a:srgbClr val="1F2937"/>
                </a:solidFill>
                <a:latin typeface="Segoe UI" panose="020B0502040204020203" pitchFamily="34" charset="0"/>
              </a:rPr>
              <a:t>• rollback </a:t>
            </a:r>
            <a:r>
              <a:rPr lang="ru-RU" sz="1500">
                <a:solidFill>
                  <a:srgbClr val="1F2937"/>
                </a:solidFill>
                <a:latin typeface="Segoe UI" panose="020B0502040204020203" pitchFamily="34" charset="0"/>
              </a:rPr>
              <a:t>към предишен </a:t>
            </a:r>
            <a:r>
              <a:rPr lang="en-US" sz="1500">
                <a:solidFill>
                  <a:srgbClr val="1F2937"/>
                </a:solidFill>
                <a:latin typeface="Segoe UI" panose="020B0502040204020203" pitchFamily="34" charset="0"/>
              </a:rPr>
              <a:t>Docker image tag</a:t>
            </a:r>
          </a:p>
          <a:p>
            <a:r>
              <a:rPr lang="en-US" sz="1500">
                <a:solidFill>
                  <a:srgbClr val="1F2937"/>
                </a:solidFill>
                <a:latin typeface="Segoe UI" panose="020B0502040204020203" pitchFamily="34" charset="0"/>
              </a:rPr>
              <a:t>• </a:t>
            </a:r>
            <a:r>
              <a:rPr lang="ru-RU" sz="1500">
                <a:solidFill>
                  <a:srgbClr val="1F2937"/>
                </a:solidFill>
                <a:latin typeface="Segoe UI" panose="020B0502040204020203" pitchFamily="34" charset="0"/>
              </a:rPr>
              <a:t>централизирани </a:t>
            </a:r>
            <a:r>
              <a:rPr lang="en-US" sz="1500">
                <a:solidFill>
                  <a:srgbClr val="1F2937"/>
                </a:solidFill>
                <a:latin typeface="Segoe UI" panose="020B0502040204020203" pitchFamily="34" charset="0"/>
              </a:rPr>
              <a:t>container logs </a:t>
            </a:r>
            <a:r>
              <a:rPr lang="ru-RU" sz="1500">
                <a:solidFill>
                  <a:srgbClr val="1F2937"/>
                </a:solidFill>
                <a:latin typeface="Segoe UI" panose="020B0502040204020203" pitchFamily="34" charset="0"/>
              </a:rPr>
              <a:t>и </a:t>
            </a:r>
            <a:r>
              <a:rPr lang="en-US" sz="1500">
                <a:solidFill>
                  <a:srgbClr val="1F2937"/>
                </a:solidFill>
                <a:latin typeface="Segoe UI" panose="020B0502040204020203" pitchFamily="34" charset="0"/>
              </a:rPr>
              <a:t>monitoring</a:t>
            </a:r>
          </a:p>
          <a:p>
            <a:r>
              <a:rPr lang="en-US" sz="1500">
                <a:solidFill>
                  <a:srgbClr val="1F2937"/>
                </a:solidFill>
                <a:latin typeface="Segoe UI" panose="020B0502040204020203" pitchFamily="34" charset="0"/>
              </a:rPr>
              <a:t>• </a:t>
            </a:r>
            <a:r>
              <a:rPr lang="ru-RU" sz="1500">
                <a:solidFill>
                  <a:srgbClr val="1F2937"/>
                </a:solidFill>
                <a:latin typeface="Segoe UI" panose="020B0502040204020203" pitchFamily="34" charset="0"/>
              </a:rPr>
              <a:t>разширяване към </a:t>
            </a:r>
            <a:r>
              <a:rPr lang="en-US" sz="1500">
                <a:solidFill>
                  <a:srgbClr val="1F2937"/>
                </a:solidFill>
                <a:latin typeface="Segoe UI" panose="020B0502040204020203" pitchFamily="34" charset="0"/>
              </a:rPr>
              <a:t>Kubernetes/OpenShift </a:t>
            </a:r>
            <a:r>
              <a:rPr lang="ru-RU" sz="1500">
                <a:solidFill>
                  <a:srgbClr val="1F2937"/>
                </a:solidFill>
                <a:latin typeface="Segoe UI" panose="020B0502040204020203" pitchFamily="34" charset="0"/>
              </a:rPr>
              <a:t>среда</a:t>
            </a:r>
          </a:p>
          <a:p>
            <a:r>
              <a:rPr lang="ru-RU" sz="1500">
                <a:solidFill>
                  <a:srgbClr val="1F2937"/>
                </a:solidFill>
                <a:latin typeface="Segoe UI" panose="020B0502040204020203" pitchFamily="34" charset="0"/>
              </a:rPr>
              <a:t>• автоматизирано </a:t>
            </a:r>
            <a:r>
              <a:rPr lang="en-US" sz="1500">
                <a:solidFill>
                  <a:srgbClr val="1F2937"/>
                </a:solidFill>
                <a:latin typeface="Segoe UI" panose="020B0502040204020203" pitchFamily="34" charset="0"/>
              </a:rPr>
              <a:t>versioning </a:t>
            </a:r>
            <a:r>
              <a:rPr lang="ru-RU" sz="1500">
                <a:solidFill>
                  <a:srgbClr val="1F2937"/>
                </a:solidFill>
                <a:latin typeface="Segoe UI" panose="020B0502040204020203" pitchFamily="34" charset="0"/>
              </a:rPr>
              <a:t>и </a:t>
            </a:r>
            <a:r>
              <a:rPr lang="en-US" sz="1500">
                <a:solidFill>
                  <a:srgbClr val="1F2937"/>
                </a:solidFill>
                <a:latin typeface="Segoe UI" panose="020B0502040204020203" pitchFamily="34" charset="0"/>
              </a:rPr>
              <a:t>release notes</a:t>
            </a:r>
          </a:p>
        </p:txBody>
      </p:sp>
    </p:spTree>
    <p:extLst>
      <p:ext uri="{BB962C8B-B14F-4D97-AF65-F5344CB8AC3E}">
        <p14:creationId xmlns:p14="http://schemas.microsoft.com/office/powerpoint/2010/main" val="48347470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24B45D66-6365-71C0-7ACA-61C226FEDF0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11827"/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791045D-D1C3-DF3B-D25F-2F3D228B748D}"/>
              </a:ext>
            </a:extLst>
          </p:cNvPr>
          <p:cNvSpPr/>
          <p:nvPr/>
        </p:nvSpPr>
        <p:spPr>
          <a:xfrm>
            <a:off x="0" y="0"/>
            <a:ext cx="12192000" cy="127000"/>
          </a:xfrm>
          <a:prstGeom prst="rect">
            <a:avLst/>
          </a:prstGeom>
          <a:solidFill>
            <a:srgbClr val="D33333"/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F3A26C0-CEB6-7B63-E8E0-FFC2502BB1F8}"/>
              </a:ext>
            </a:extLst>
          </p:cNvPr>
          <p:cNvSpPr txBox="1"/>
          <p:nvPr/>
        </p:nvSpPr>
        <p:spPr>
          <a:xfrm>
            <a:off x="11303000" y="6451600"/>
            <a:ext cx="508000" cy="21544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800">
                <a:solidFill>
                  <a:srgbClr val="CBD5E1"/>
                </a:solidFill>
                <a:latin typeface="Segoe UI" panose="020B0502040204020203" pitchFamily="34" charset="0"/>
              </a:rPr>
              <a:t>10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059178B-7D7E-0D1D-A849-5409AA1079FF}"/>
              </a:ext>
            </a:extLst>
          </p:cNvPr>
          <p:cNvSpPr txBox="1"/>
          <p:nvPr/>
        </p:nvSpPr>
        <p:spPr>
          <a:xfrm>
            <a:off x="1219200" y="3327400"/>
            <a:ext cx="4572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ru-RU" sz="2400">
                <a:solidFill>
                  <a:srgbClr val="FFFFFF"/>
                </a:solidFill>
                <a:latin typeface="Segoe UI" panose="020B0502040204020203" pitchFamily="34" charset="0"/>
              </a:rPr>
              <a:t>Въпроси?</a:t>
            </a:r>
            <a:endParaRPr lang="en-US" sz="2400">
              <a:solidFill>
                <a:srgbClr val="FFFFFF"/>
              </a:solidFill>
              <a:latin typeface="Segoe UI" panose="020B0502040204020203" pitchFamily="34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4E7674D-C6BD-0A3D-2222-6779D699B31E}"/>
              </a:ext>
            </a:extLst>
          </p:cNvPr>
          <p:cNvSpPr/>
          <p:nvPr/>
        </p:nvSpPr>
        <p:spPr>
          <a:xfrm>
            <a:off x="0" y="0"/>
            <a:ext cx="12192000" cy="127000"/>
          </a:xfrm>
          <a:prstGeom prst="rect">
            <a:avLst/>
          </a:prstGeom>
          <a:solidFill>
            <a:srgbClr val="D33333"/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2A79E64-702A-5FD0-7390-79D240DA8D90}"/>
              </a:ext>
            </a:extLst>
          </p:cNvPr>
          <p:cNvSpPr txBox="1"/>
          <p:nvPr/>
        </p:nvSpPr>
        <p:spPr>
          <a:xfrm>
            <a:off x="1168400" y="2387600"/>
            <a:ext cx="9652000" cy="584775"/>
          </a:xfrm>
          <a:prstGeom prst="rect">
            <a:avLst/>
          </a:prstGeom>
          <a:noFill/>
          <a:ln w="1397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3970">
                <a:solidFill>
                  <a:schemeClr val="tx1"/>
                </a:solidFill>
              </a14:hiddenLine>
            </a:ext>
          </a:extLst>
        </p:spPr>
        <p:txBody>
          <a:bodyPr vert="horz" wrap="square" lIns="0" tIns="0" rIns="0" bIns="0" rtlCol="0">
            <a:spAutoFit/>
          </a:bodyPr>
          <a:lstStyle/>
          <a:p>
            <a:r>
              <a:rPr lang="ru-RU" sz="3800" b="1">
                <a:solidFill>
                  <a:srgbClr val="FFFFFF"/>
                </a:solidFill>
                <a:latin typeface="Segoe UI" panose="020B0502040204020203" pitchFamily="34" charset="0"/>
              </a:rPr>
              <a:t>Благодаря за вниманието</a:t>
            </a:r>
            <a:endParaRPr lang="en-US" sz="3800" b="1">
              <a:solidFill>
                <a:srgbClr val="FFFFFF"/>
              </a:solidFill>
              <a:latin typeface="Segoe UI" panose="020B0502040204020203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40702A5-0936-F50E-9C0D-FA346153FC86}"/>
              </a:ext>
            </a:extLst>
          </p:cNvPr>
          <p:cNvSpPr txBox="1"/>
          <p:nvPr/>
        </p:nvSpPr>
        <p:spPr>
          <a:xfrm>
            <a:off x="558800" y="6477000"/>
            <a:ext cx="9652000" cy="21544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ru-RU" sz="800">
                <a:solidFill>
                  <a:srgbClr val="CBD5E1"/>
                </a:solidFill>
                <a:latin typeface="Segoe UI" panose="020B0502040204020203" pitchFamily="34" charset="0"/>
              </a:rPr>
              <a:t>Финал</a:t>
            </a:r>
            <a:endParaRPr lang="en-US" sz="800">
              <a:solidFill>
                <a:srgbClr val="CBD5E1"/>
              </a:solidFill>
              <a:latin typeface="Segoe UI" panose="020B0502040204020203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147F9CF-C1F6-1835-1CA7-6322B10D9EC8}"/>
              </a:ext>
            </a:extLst>
          </p:cNvPr>
          <p:cNvSpPr txBox="1"/>
          <p:nvPr/>
        </p:nvSpPr>
        <p:spPr>
          <a:xfrm>
            <a:off x="1219200" y="5588000"/>
            <a:ext cx="8636000" cy="2000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ru-RU" sz="1300">
                <a:solidFill>
                  <a:srgbClr val="CBD5E1"/>
                </a:solidFill>
                <a:latin typeface="Segoe UI" panose="020B0502040204020203" pitchFamily="34" charset="0"/>
              </a:rPr>
              <a:t>CI/CD инфраструктура за автоматизирано тестване и внедряване</a:t>
            </a:r>
            <a:endParaRPr lang="en-US" sz="1300">
              <a:solidFill>
                <a:srgbClr val="CBD5E1"/>
              </a:solidFill>
              <a:latin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227770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48</TotalTime>
  <Words>571</Words>
  <Application>Microsoft Office PowerPoint</Application>
  <PresentationFormat>Widescreen</PresentationFormat>
  <Paragraphs>148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Aptos</vt:lpstr>
      <vt:lpstr>Aptos Display</vt:lpstr>
      <vt:lpstr>Arial</vt:lpstr>
      <vt:lpstr>Segoe UI</vt:lpstr>
      <vt:lpstr>Segoe UI Semibold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Plamen Pandev</dc:creator>
  <cp:lastModifiedBy>Plamen Pandev</cp:lastModifiedBy>
  <cp:revision>8</cp:revision>
  <dcterms:created xsi:type="dcterms:W3CDTF">2026-06-29T07:45:03Z</dcterms:created>
  <dcterms:modified xsi:type="dcterms:W3CDTF">2026-06-29T08:50:20Z</dcterms:modified>
</cp:coreProperties>
</file>